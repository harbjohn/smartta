
<file path=[Content_Types].xml><?xml version="1.0" encoding="utf-8"?>
<Types xmlns="http://schemas.openxmlformats.org/package/2006/content-types">
  <Default Extension="bin" ContentType="image/png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bin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19.bin" ContentType="image/jpeg"/>
  <Override PartName="/ppt/media/image38.bin" ContentType="image/jpeg"/>
  <Override PartName="/ppt/media/image40.bin" ContentType="image/jpeg"/>
  <Override PartName="/ppt/media/image43.bin" ContentType="image/jpeg"/>
  <Override PartName="/ppt/media/image45.bin" ContentType="image/jpeg"/>
  <Override PartName="/ppt/media/image47.bin" ContentType="image/jpeg"/>
  <Override PartName="/ppt/media/image56.bin" ContentType="image/jpeg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notesMasterIdLst>
    <p:notesMasterId r:id="rId29"/>
  </p:notesMasterIdLst>
  <p:sldIdLst>
    <p:sldId id="301" r:id="rId2"/>
    <p:sldId id="314" r:id="rId3"/>
    <p:sldId id="1772" r:id="rId4"/>
    <p:sldId id="373" r:id="rId5"/>
    <p:sldId id="1769" r:id="rId6"/>
    <p:sldId id="389" r:id="rId7"/>
    <p:sldId id="418" r:id="rId8"/>
    <p:sldId id="431" r:id="rId9"/>
    <p:sldId id="464" r:id="rId10"/>
    <p:sldId id="625" r:id="rId11"/>
    <p:sldId id="672" r:id="rId12"/>
    <p:sldId id="697" r:id="rId13"/>
    <p:sldId id="754" r:id="rId14"/>
    <p:sldId id="827" r:id="rId15"/>
    <p:sldId id="854" r:id="rId16"/>
    <p:sldId id="911" r:id="rId17"/>
    <p:sldId id="980" r:id="rId18"/>
    <p:sldId id="1019" r:id="rId19"/>
    <p:sldId id="1060" r:id="rId20"/>
    <p:sldId id="1080" r:id="rId21"/>
    <p:sldId id="1142" r:id="rId22"/>
    <p:sldId id="1172" r:id="rId23"/>
    <p:sldId id="1588" r:id="rId24"/>
    <p:sldId id="1539" r:id="rId25"/>
    <p:sldId id="1212" r:id="rId26"/>
    <p:sldId id="1775" r:id="rId27"/>
    <p:sldId id="1773" r:id="rId28"/>
  </p:sldIdLst>
  <p:sldSz cx="18288000" cy="10287000"/>
  <p:notesSz cx="18288000" cy="10287000"/>
  <p:embeddedFontLst>
    <p:embeddedFont>
      <p:font typeface="Public Sans" panose="020B0604020202020204" charset="0"/>
      <p:regular r:id="rId30"/>
      <p:bold r:id="rId31"/>
    </p:embeddedFont>
    <p:embeddedFont>
      <p:font typeface="Public Sans Medium" panose="020B0604020202020204" charset="0"/>
      <p:regular r:id="rId32"/>
    </p:embeddedFont>
    <p:embeddedFont>
      <p:font typeface="Public Sans SemiBold" panose="020B0604020202020204" charset="0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17" autoAdjust="0"/>
    <p:restoredTop sz="88040"/>
  </p:normalViewPr>
  <p:slideViewPr>
    <p:cSldViewPr snapToGrid="0">
      <p:cViewPr varScale="1">
        <p:scale>
          <a:sx n="37" d="100"/>
          <a:sy n="37" d="100"/>
        </p:scale>
        <p:origin x="460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L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6EAD4-D723-4C4C-B8FD-3B1F03FECE10}" type="datetimeFigureOut">
              <a:rPr lang="en-LB" smtClean="0"/>
              <a:t>11/29/2025</a:t>
            </a:fld>
            <a:endParaRPr lang="en-L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L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L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E7B99-1ACA-E245-91C4-B210B6FEC13F}" type="slidenum">
              <a:rPr lang="en-LB" smtClean="0"/>
              <a:t>‹#›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30194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7B99-1ACA-E245-91C4-B210B6FEC13F}" type="slidenum">
              <a:rPr lang="en-LB" smtClean="0"/>
              <a:t>2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1937211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4FA6-7DE2-D106-9667-0B02FB5B6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E0D5F1-1711-3AF0-B924-566C6ADB4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2CCBED-D8C1-38DF-275F-858DF8320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79E49-ED91-23A0-5AD8-8D87831C3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7B99-1ACA-E245-91C4-B210B6FEC13F}" type="slidenum">
              <a:rPr lang="en-LB" smtClean="0"/>
              <a:t>3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2484452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7B99-1ACA-E245-91C4-B210B6FEC13F}" type="slidenum">
              <a:rPr lang="en-LB" smtClean="0"/>
              <a:t>4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471536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7B99-1ACA-E245-91C4-B210B6FEC13F}" type="slidenum">
              <a:rPr lang="en-LB" smtClean="0"/>
              <a:t>5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3078064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7B99-1ACA-E245-91C4-B210B6FEC13F}" type="slidenum">
              <a:rPr lang="en-LB" smtClean="0"/>
              <a:t>19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1021068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5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95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59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391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817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5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41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80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50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8CEAE-9ACF-4870-96B2-2FDD755B4008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7" Type="http://schemas.openxmlformats.org/officeDocument/2006/relationships/image" Target="../media/image7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bin"/><Relationship Id="rId5" Type="http://schemas.openxmlformats.org/officeDocument/2006/relationships/image" Target="../media/image5.bin"/><Relationship Id="rId4" Type="http://schemas.openxmlformats.org/officeDocument/2006/relationships/image" Target="../media/image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bin"/><Relationship Id="rId4" Type="http://schemas.openxmlformats.org/officeDocument/2006/relationships/image" Target="../media/image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bin"/><Relationship Id="rId13" Type="http://schemas.openxmlformats.org/officeDocument/2006/relationships/image" Target="../media/image17.bin"/><Relationship Id="rId3" Type="http://schemas.openxmlformats.org/officeDocument/2006/relationships/image" Target="../media/image1.bin"/><Relationship Id="rId7" Type="http://schemas.openxmlformats.org/officeDocument/2006/relationships/image" Target="../media/image11.bin"/><Relationship Id="rId12" Type="http://schemas.openxmlformats.org/officeDocument/2006/relationships/image" Target="../media/image16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bin"/><Relationship Id="rId11" Type="http://schemas.openxmlformats.org/officeDocument/2006/relationships/image" Target="../media/image15.bin"/><Relationship Id="rId5" Type="http://schemas.openxmlformats.org/officeDocument/2006/relationships/image" Target="../media/image9.bin"/><Relationship Id="rId10" Type="http://schemas.openxmlformats.org/officeDocument/2006/relationships/image" Target="../media/image14.bin"/><Relationship Id="rId4" Type="http://schemas.openxmlformats.org/officeDocument/2006/relationships/image" Target="../media/image2.bin"/><Relationship Id="rId9" Type="http://schemas.openxmlformats.org/officeDocument/2006/relationships/image" Target="../media/image13.bin"/><Relationship Id="rId14" Type="http://schemas.openxmlformats.org/officeDocument/2006/relationships/image" Target="../media/image1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bin"/><Relationship Id="rId3" Type="http://schemas.openxmlformats.org/officeDocument/2006/relationships/image" Target="../media/image2.bin"/><Relationship Id="rId7" Type="http://schemas.openxmlformats.org/officeDocument/2006/relationships/image" Target="../media/image2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bin"/><Relationship Id="rId5" Type="http://schemas.openxmlformats.org/officeDocument/2006/relationships/image" Target="../media/image20.bin"/><Relationship Id="rId4" Type="http://schemas.openxmlformats.org/officeDocument/2006/relationships/image" Target="../media/image19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bin"/><Relationship Id="rId4" Type="http://schemas.openxmlformats.org/officeDocument/2006/relationships/image" Target="../media/image2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bin"/><Relationship Id="rId3" Type="http://schemas.openxmlformats.org/officeDocument/2006/relationships/image" Target="../media/image2.bin"/><Relationship Id="rId7" Type="http://schemas.openxmlformats.org/officeDocument/2006/relationships/image" Target="../media/image3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bin"/><Relationship Id="rId11" Type="http://schemas.openxmlformats.org/officeDocument/2006/relationships/image" Target="../media/image36.bin"/><Relationship Id="rId5" Type="http://schemas.openxmlformats.org/officeDocument/2006/relationships/image" Target="../media/image30.bin"/><Relationship Id="rId10" Type="http://schemas.openxmlformats.org/officeDocument/2006/relationships/image" Target="../media/image35.bin"/><Relationship Id="rId4" Type="http://schemas.openxmlformats.org/officeDocument/2006/relationships/image" Target="../media/image29.bin"/><Relationship Id="rId9" Type="http://schemas.openxmlformats.org/officeDocument/2006/relationships/image" Target="../media/image3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bin"/><Relationship Id="rId13" Type="http://schemas.openxmlformats.org/officeDocument/2006/relationships/image" Target="../media/image47.bin"/><Relationship Id="rId3" Type="http://schemas.openxmlformats.org/officeDocument/2006/relationships/image" Target="../media/image37.bin"/><Relationship Id="rId7" Type="http://schemas.openxmlformats.org/officeDocument/2006/relationships/image" Target="../media/image41.bin"/><Relationship Id="rId12" Type="http://schemas.openxmlformats.org/officeDocument/2006/relationships/image" Target="../media/image46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bin"/><Relationship Id="rId11" Type="http://schemas.openxmlformats.org/officeDocument/2006/relationships/image" Target="../media/image45.bin"/><Relationship Id="rId5" Type="http://schemas.openxmlformats.org/officeDocument/2006/relationships/image" Target="../media/image39.bin"/><Relationship Id="rId10" Type="http://schemas.openxmlformats.org/officeDocument/2006/relationships/image" Target="../media/image44.bin"/><Relationship Id="rId4" Type="http://schemas.openxmlformats.org/officeDocument/2006/relationships/image" Target="../media/image38.bin"/><Relationship Id="rId9" Type="http://schemas.openxmlformats.org/officeDocument/2006/relationships/image" Target="../media/image43.bin"/><Relationship Id="rId14" Type="http://schemas.openxmlformats.org/officeDocument/2006/relationships/image" Target="../media/image48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7" Type="http://schemas.openxmlformats.org/officeDocument/2006/relationships/image" Target="../media/image5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bin"/><Relationship Id="rId5" Type="http://schemas.openxmlformats.org/officeDocument/2006/relationships/image" Target="../media/image50.bin"/><Relationship Id="rId4" Type="http://schemas.openxmlformats.org/officeDocument/2006/relationships/image" Target="../media/image4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bin"/><Relationship Id="rId5" Type="http://schemas.openxmlformats.org/officeDocument/2006/relationships/image" Target="../media/image54.bin"/><Relationship Id="rId4" Type="http://schemas.openxmlformats.org/officeDocument/2006/relationships/image" Target="../media/image5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bin"/><Relationship Id="rId3" Type="http://schemas.openxmlformats.org/officeDocument/2006/relationships/image" Target="../media/image2.bin"/><Relationship Id="rId7" Type="http://schemas.openxmlformats.org/officeDocument/2006/relationships/image" Target="../media/image6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bin"/><Relationship Id="rId11" Type="http://schemas.openxmlformats.org/officeDocument/2006/relationships/image" Target="../media/image66.bin"/><Relationship Id="rId5" Type="http://schemas.openxmlformats.org/officeDocument/2006/relationships/image" Target="../media/image60.bin"/><Relationship Id="rId10" Type="http://schemas.openxmlformats.org/officeDocument/2006/relationships/image" Target="../media/image65.bin"/><Relationship Id="rId4" Type="http://schemas.openxmlformats.org/officeDocument/2006/relationships/image" Target="../media/image59.bin"/><Relationship Id="rId9" Type="http://schemas.openxmlformats.org/officeDocument/2006/relationships/image" Target="../media/image6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bin"/><Relationship Id="rId3" Type="http://schemas.openxmlformats.org/officeDocument/2006/relationships/image" Target="../media/image2.bin"/><Relationship Id="rId7" Type="http://schemas.openxmlformats.org/officeDocument/2006/relationships/image" Target="../media/image70.bin"/><Relationship Id="rId12" Type="http://schemas.openxmlformats.org/officeDocument/2006/relationships/image" Target="../media/image75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bin"/><Relationship Id="rId11" Type="http://schemas.openxmlformats.org/officeDocument/2006/relationships/image" Target="../media/image74.bin"/><Relationship Id="rId5" Type="http://schemas.openxmlformats.org/officeDocument/2006/relationships/image" Target="../media/image68.bin"/><Relationship Id="rId10" Type="http://schemas.openxmlformats.org/officeDocument/2006/relationships/image" Target="../media/image73.bin"/><Relationship Id="rId4" Type="http://schemas.openxmlformats.org/officeDocument/2006/relationships/image" Target="../media/image67.bin"/><Relationship Id="rId9" Type="http://schemas.openxmlformats.org/officeDocument/2006/relationships/image" Target="../media/image7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bin"/><Relationship Id="rId4" Type="http://schemas.openxmlformats.org/officeDocument/2006/relationships/image" Target="../media/image7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bin"/><Relationship Id="rId3" Type="http://schemas.openxmlformats.org/officeDocument/2006/relationships/image" Target="../media/image2.bin"/><Relationship Id="rId7" Type="http://schemas.openxmlformats.org/officeDocument/2006/relationships/image" Target="../media/image81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bin"/><Relationship Id="rId5" Type="http://schemas.openxmlformats.org/officeDocument/2006/relationships/image" Target="../media/image79.bin"/><Relationship Id="rId4" Type="http://schemas.openxmlformats.org/officeDocument/2006/relationships/image" Target="../media/image78.bin"/><Relationship Id="rId9" Type="http://schemas.openxmlformats.org/officeDocument/2006/relationships/image" Target="../media/image8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bin"/><Relationship Id="rId4" Type="http://schemas.openxmlformats.org/officeDocument/2006/relationships/image" Target="../media/image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bin"/><Relationship Id="rId4" Type="http://schemas.openxmlformats.org/officeDocument/2006/relationships/image" Target="../media/image85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7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bin"/><Relationship Id="rId3" Type="http://schemas.openxmlformats.org/officeDocument/2006/relationships/image" Target="../media/image2.bin"/><Relationship Id="rId7" Type="http://schemas.openxmlformats.org/officeDocument/2006/relationships/image" Target="../media/image93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bin"/><Relationship Id="rId5" Type="http://schemas.openxmlformats.org/officeDocument/2006/relationships/image" Target="../media/image91.bin"/><Relationship Id="rId10" Type="http://schemas.openxmlformats.org/officeDocument/2006/relationships/image" Target="../media/image96.bin"/><Relationship Id="rId4" Type="http://schemas.openxmlformats.org/officeDocument/2006/relationships/image" Target="../media/image90.bin"/><Relationship Id="rId9" Type="http://schemas.openxmlformats.org/officeDocument/2006/relationships/image" Target="../media/image95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5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717631" y="1691610"/>
            <a:ext cx="8790555" cy="7376189"/>
          </a:xfrm>
          <a:prstGeom prst="rect">
            <a:avLst/>
          </a:prstGeom>
        </p:spPr>
      </p:pic>
      <p:sp>
        <p:nvSpPr>
          <p:cNvPr id="307" name="Presenter Name-41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9200" y="8088725"/>
            <a:ext cx="6072188" cy="933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000" spc="-36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by Ali Waked, Georges Rizkallah and John Harb</a:t>
            </a:r>
          </a:p>
        </p:txBody>
      </p:sp>
      <p:sp>
        <p:nvSpPr>
          <p:cNvPr id="30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9200" y="1462945"/>
            <a:ext cx="6072188" cy="20002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1" spc="-48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SmartTA: AI-Powered Multimodal Teaching Assistant</a:t>
            </a:r>
          </a:p>
        </p:txBody>
      </p:sp>
      <p:sp>
        <p:nvSpPr>
          <p:cNvPr id="31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9200" y="3761518"/>
            <a:ext cx="6072188" cy="3448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 spc="21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Empowering university education with AI-driven search and insights. Integrating video lecture search and multimodal document Q&amp;A to enhance student learning and instructor analytics.</a:t>
            </a:r>
          </a:p>
        </p:txBody>
      </p:sp>
      <p:pic>
        <p:nvPicPr>
          <p:cNvPr id="3" name="Picture 2" descr="A logo on a red background&#10;&#10;AI-generated content may be incorrect.">
            <a:extLst>
              <a:ext uri="{FF2B5EF4-FFF2-40B4-BE49-F238E27FC236}">
                <a16:creationId xmlns:a16="http://schemas.microsoft.com/office/drawing/2014/main" id="{E74B5D77-FE57-18E0-E910-B4673BE98B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1757" y="1603"/>
            <a:ext cx="2596243" cy="14603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2548FE-AE84-69EB-19CA-F969A9189E09}"/>
              </a:ext>
            </a:extLst>
          </p:cNvPr>
          <p:cNvSpPr txBox="1"/>
          <p:nvPr/>
        </p:nvSpPr>
        <p:spPr>
          <a:xfrm>
            <a:off x="17316450" y="9372600"/>
            <a:ext cx="64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B" sz="2400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1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1152414" y="7726775"/>
            <a:ext cx="18288000" cy="10287000"/>
          </a:xfrm>
          <a:prstGeom prst="rect">
            <a:avLst/>
          </a:prstGeom>
        </p:spPr>
      </p:pic>
      <p:pic>
        <p:nvPicPr>
          <p:cNvPr id="31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162800" y="914400"/>
            <a:ext cx="10366324" cy="1304925"/>
          </a:xfrm>
          <a:prstGeom prst="rect">
            <a:avLst/>
          </a:prstGeom>
        </p:spPr>
      </p:pic>
      <p:pic>
        <p:nvPicPr>
          <p:cNvPr id="32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7162800" y="914400"/>
            <a:ext cx="10350398" cy="1290191"/>
          </a:xfrm>
          <a:prstGeom prst="rect">
            <a:avLst/>
          </a:prstGeom>
        </p:spPr>
      </p:pic>
      <p:pic>
        <p:nvPicPr>
          <p:cNvPr id="32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7353300" y="1394460"/>
            <a:ext cx="342900" cy="342900"/>
          </a:xfrm>
          <a:prstGeom prst="rect">
            <a:avLst/>
          </a:prstGeom>
        </p:spPr>
      </p:pic>
      <p:sp>
        <p:nvSpPr>
          <p:cNvPr id="324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481697" y="1411510"/>
            <a:ext cx="119062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Public Sans SemiBold" panose="00000700000000000000" pitchFamily="2" charset="0"/>
              </a:rPr>
              <a:t>1</a:t>
            </a:r>
          </a:p>
        </p:txBody>
      </p:sp>
      <p:sp>
        <p:nvSpPr>
          <p:cNvPr id="326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48600" y="1104900"/>
            <a:ext cx="9520238" cy="933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000" b="1" spc="-36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Core capability:</a:t>
            </a:r>
            <a:r>
              <a:rPr lang="en-US" sz="3000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 YouTube lecture search with </a:t>
            </a:r>
            <a:r>
              <a:rPr lang="en-US" sz="3000" b="1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timestamp</a:t>
            </a:r>
            <a:r>
              <a:rPr lang="en-US" sz="3000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 navigation and image based query support</a:t>
            </a:r>
          </a:p>
        </p:txBody>
      </p:sp>
      <p:pic>
        <p:nvPicPr>
          <p:cNvPr id="32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162800" y="2369725"/>
            <a:ext cx="10366324" cy="1304925"/>
          </a:xfrm>
          <a:prstGeom prst="rect">
            <a:avLst/>
          </a:prstGeom>
        </p:spPr>
      </p:pic>
      <p:pic>
        <p:nvPicPr>
          <p:cNvPr id="33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7162800" y="2369725"/>
            <a:ext cx="10350398" cy="1290191"/>
          </a:xfrm>
          <a:prstGeom prst="rect">
            <a:avLst/>
          </a:prstGeom>
        </p:spPr>
      </p:pic>
      <p:pic>
        <p:nvPicPr>
          <p:cNvPr id="33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7353300" y="2849785"/>
            <a:ext cx="342900" cy="342900"/>
          </a:xfrm>
          <a:prstGeom prst="rect">
            <a:avLst/>
          </a:prstGeom>
        </p:spPr>
      </p:pic>
      <p:sp>
        <p:nvSpPr>
          <p:cNvPr id="334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461123" y="2866834"/>
            <a:ext cx="157162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Public Sans SemiBold" panose="00000700000000000000" pitchFamily="2" charset="0"/>
              </a:rPr>
              <a:t>2</a:t>
            </a:r>
          </a:p>
        </p:txBody>
      </p:sp>
      <p:sp>
        <p:nvSpPr>
          <p:cNvPr id="336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48600" y="2560225"/>
            <a:ext cx="9520238" cy="933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000" b="1" spc="-36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Multimodal RAG:</a:t>
            </a:r>
            <a:r>
              <a:rPr lang="en-US" sz="3000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 Natural language and image queries return AI answers with </a:t>
            </a:r>
            <a:r>
              <a:rPr lang="en-US" sz="3000" b="1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PDF source citations</a:t>
            </a:r>
          </a:p>
        </p:txBody>
      </p:sp>
      <p:pic>
        <p:nvPicPr>
          <p:cNvPr id="3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162800" y="3825050"/>
            <a:ext cx="10366324" cy="1304925"/>
          </a:xfrm>
          <a:prstGeom prst="rect">
            <a:avLst/>
          </a:prstGeom>
        </p:spPr>
      </p:pic>
      <p:pic>
        <p:nvPicPr>
          <p:cNvPr id="34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7162800" y="3825050"/>
            <a:ext cx="10350398" cy="1290191"/>
          </a:xfrm>
          <a:prstGeom prst="rect">
            <a:avLst/>
          </a:prstGeom>
        </p:spPr>
      </p:pic>
      <p:pic>
        <p:nvPicPr>
          <p:cNvPr id="34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7353300" y="4305110"/>
            <a:ext cx="342900" cy="342900"/>
          </a:xfrm>
          <a:prstGeom prst="rect">
            <a:avLst/>
          </a:prstGeom>
        </p:spPr>
      </p:pic>
      <p:sp>
        <p:nvSpPr>
          <p:cNvPr id="344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457980" y="4322159"/>
            <a:ext cx="16668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Public Sans SemiBold" panose="00000700000000000000" pitchFamily="2" charset="0"/>
              </a:rPr>
              <a:t>3</a:t>
            </a:r>
          </a:p>
        </p:txBody>
      </p:sp>
      <p:sp>
        <p:nvSpPr>
          <p:cNvPr id="346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48600" y="4015550"/>
            <a:ext cx="9520238" cy="933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000" b="1" spc="-36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Instructor tools:</a:t>
            </a:r>
            <a:r>
              <a:rPr lang="en-US" sz="3000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 Detailed analytics dashboard and feedback tools for course improvement</a:t>
            </a:r>
          </a:p>
        </p:txBody>
      </p:sp>
      <p:pic>
        <p:nvPicPr>
          <p:cNvPr id="3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162800" y="5280470"/>
            <a:ext cx="10366324" cy="1304925"/>
          </a:xfrm>
          <a:prstGeom prst="rect">
            <a:avLst/>
          </a:prstGeom>
        </p:spPr>
      </p:pic>
      <p:pic>
        <p:nvPicPr>
          <p:cNvPr id="35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7162800" y="5280470"/>
            <a:ext cx="10350398" cy="1290191"/>
          </a:xfrm>
          <a:prstGeom prst="rect">
            <a:avLst/>
          </a:prstGeom>
        </p:spPr>
      </p:pic>
      <p:pic>
        <p:nvPicPr>
          <p:cNvPr id="35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7353300" y="5760434"/>
            <a:ext cx="342900" cy="342900"/>
          </a:xfrm>
          <a:prstGeom prst="rect">
            <a:avLst/>
          </a:prstGeom>
        </p:spPr>
      </p:pic>
      <p:sp>
        <p:nvSpPr>
          <p:cNvPr id="354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458456" y="5777484"/>
            <a:ext cx="16668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Public Sans SemiBold" panose="00000700000000000000" pitchFamily="2" charset="0"/>
              </a:rPr>
              <a:t>4</a:t>
            </a:r>
          </a:p>
        </p:txBody>
      </p:sp>
      <p:sp>
        <p:nvSpPr>
          <p:cNvPr id="356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48600" y="5470970"/>
            <a:ext cx="9520238" cy="933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000" b="1" spc="-36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Tech stack:</a:t>
            </a:r>
            <a:r>
              <a:rPr lang="en-US" sz="3000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 OpenAI Whisper, </a:t>
            </a:r>
            <a:r>
              <a:rPr lang="en-US" sz="3000" b="1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GPT-4o-mini</a:t>
            </a:r>
            <a:r>
              <a:rPr lang="en-US" sz="3000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, CLIP, Python, </a:t>
            </a:r>
            <a:r>
              <a:rPr lang="en-US" sz="3000" spc="-36" dirty="0" err="1">
                <a:solidFill>
                  <a:srgbClr val="FFFFFF"/>
                </a:solidFill>
                <a:latin typeface="Public Sans Medium" panose="00000700000000000000" pitchFamily="2" charset="0"/>
              </a:rPr>
              <a:t>Streamlit</a:t>
            </a:r>
            <a:r>
              <a:rPr lang="en-US" sz="3000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…</a:t>
            </a:r>
          </a:p>
        </p:txBody>
      </p:sp>
      <p:pic>
        <p:nvPicPr>
          <p:cNvPr id="3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162800" y="6735794"/>
            <a:ext cx="10366324" cy="1304925"/>
          </a:xfrm>
          <a:prstGeom prst="rect">
            <a:avLst/>
          </a:prstGeom>
        </p:spPr>
      </p:pic>
      <p:pic>
        <p:nvPicPr>
          <p:cNvPr id="36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7162800" y="6735794"/>
            <a:ext cx="10350398" cy="1290191"/>
          </a:xfrm>
          <a:prstGeom prst="rect">
            <a:avLst/>
          </a:prstGeom>
        </p:spPr>
      </p:pic>
      <p:pic>
        <p:nvPicPr>
          <p:cNvPr id="3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7353300" y="7215759"/>
            <a:ext cx="342900" cy="342900"/>
          </a:xfrm>
          <a:prstGeom prst="rect">
            <a:avLst/>
          </a:prstGeom>
        </p:spPr>
      </p:pic>
      <p:sp>
        <p:nvSpPr>
          <p:cNvPr id="364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456932" y="7232809"/>
            <a:ext cx="16668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Public Sans SemiBold" panose="00000700000000000000" pitchFamily="2" charset="0"/>
              </a:rPr>
              <a:t>5</a:t>
            </a:r>
          </a:p>
        </p:txBody>
      </p:sp>
      <p:sp>
        <p:nvSpPr>
          <p:cNvPr id="366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48600" y="6926294"/>
            <a:ext cx="9520238" cy="933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000" spc="-36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Built to empower </a:t>
            </a:r>
            <a:r>
              <a:rPr lang="en-US" sz="3000" b="1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students and instructors</a:t>
            </a:r>
            <a:r>
              <a:rPr lang="en-US" sz="3000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 with searchable lectures and source backed AI answers</a:t>
            </a:r>
          </a:p>
        </p:txBody>
      </p:sp>
      <p:sp>
        <p:nvSpPr>
          <p:cNvPr id="36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100" y="879348"/>
            <a:ext cx="5595938" cy="1866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872"/>
              </a:lnSpc>
            </a:pPr>
            <a:r>
              <a:rPr lang="en-US" sz="4200" spc="-34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SmartTA: AI-Powered Lecture Search &amp; Multimodal RAG</a:t>
            </a:r>
          </a:p>
        </p:txBody>
      </p:sp>
      <p:sp>
        <p:nvSpPr>
          <p:cNvPr id="37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100" y="3048000"/>
            <a:ext cx="5595938" cy="1771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Natural language &amp; image queries, timestamped lecture navigation, PDF cited answers, and instructor analytics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D22402-4620-FB51-9C5D-745155300D9A}"/>
              </a:ext>
            </a:extLst>
          </p:cNvPr>
          <p:cNvSpPr txBox="1"/>
          <p:nvPr/>
        </p:nvSpPr>
        <p:spPr>
          <a:xfrm>
            <a:off x="17316450" y="9372600"/>
            <a:ext cx="64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B" sz="2400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6FAB3-47DD-85CB-68F8-FCD54D415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Rect">
            <a:extLst>
              <a:ext uri="{FF2B5EF4-FFF2-40B4-BE49-F238E27FC236}">
                <a16:creationId xmlns:a16="http://schemas.microsoft.com/office/drawing/2014/main" id="{CADC2919-EFBF-A5AC-5037-65F8E5149A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727872"/>
          </a:xfrm>
          <a:prstGeom prst="rect">
            <a:avLst/>
          </a:prstGeom>
        </p:spPr>
      </p:pic>
      <p:pic>
        <p:nvPicPr>
          <p:cNvPr id="316" name="Rect">
            <a:extLst>
              <a:ext uri="{FF2B5EF4-FFF2-40B4-BE49-F238E27FC236}">
                <a16:creationId xmlns:a16="http://schemas.microsoft.com/office/drawing/2014/main" id="{93BBD97B-0F06-9885-1A28-316459235C3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-36830" y="5058569"/>
            <a:ext cx="18288000" cy="10287000"/>
          </a:xfrm>
          <a:prstGeom prst="rect">
            <a:avLst/>
          </a:prstGeom>
        </p:spPr>
      </p:pic>
      <p:sp>
        <p:nvSpPr>
          <p:cNvPr id="344" name="-2">
            <a:extLst>
              <a:ext uri="{FF2B5EF4-FFF2-40B4-BE49-F238E27FC236}">
                <a16:creationId xmlns:a16="http://schemas.microsoft.com/office/drawing/2014/main" id="{D5523C72-6E84-F28D-C172-0696BF09AF8A}"/>
              </a:ext>
            </a:extLst>
          </p:cNvPr>
          <p:cNvSpPr txBox="1"/>
          <p:nvPr/>
        </p:nvSpPr>
        <p:spPr>
          <a:xfrm>
            <a:off x="7457980" y="4322159"/>
            <a:ext cx="166688" cy="278602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endParaRPr lang="en-US" sz="1620" dirty="0">
              <a:solidFill>
                <a:srgbClr val="FFFFFF">
                  <a:alpha val="100000"/>
                </a:srgbClr>
              </a:solidFill>
              <a:latin typeface="Public Sans SemiBold" panose="00000700000000000000" pitchFamily="2" charset="0"/>
            </a:endParaRPr>
          </a:p>
        </p:txBody>
      </p:sp>
      <p:sp>
        <p:nvSpPr>
          <p:cNvPr id="368" name="Title 3">
            <a:extLst>
              <a:ext uri="{FF2B5EF4-FFF2-40B4-BE49-F238E27FC236}">
                <a16:creationId xmlns:a16="http://schemas.microsoft.com/office/drawing/2014/main" id="{FA755283-5109-4D3B-8BE6-80F64B9777FF}"/>
              </a:ext>
            </a:extLst>
          </p:cNvPr>
          <p:cNvSpPr txBox="1"/>
          <p:nvPr/>
        </p:nvSpPr>
        <p:spPr>
          <a:xfrm>
            <a:off x="800100" y="879348"/>
            <a:ext cx="16614140" cy="1274708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4872"/>
              </a:lnSpc>
            </a:pPr>
            <a:r>
              <a:rPr lang="en-US" sz="4400" spc="-34" dirty="0">
                <a:solidFill>
                  <a:schemeClr val="bg1"/>
                </a:solidFill>
              </a:rPr>
              <a:t>SmartTA: </a:t>
            </a:r>
            <a:r>
              <a:rPr lang="en-US" sz="4400" dirty="0">
                <a:solidFill>
                  <a:schemeClr val="bg1"/>
                </a:solidFill>
              </a:rPr>
              <a:t>The Problem → Our Solution</a:t>
            </a:r>
          </a:p>
          <a:p>
            <a:pPr algn="l">
              <a:lnSpc>
                <a:spcPts val="4872"/>
              </a:lnSpc>
            </a:pPr>
            <a:endParaRPr lang="en-US" sz="4200" spc="-34" dirty="0">
              <a:solidFill>
                <a:schemeClr val="bg1"/>
              </a:solidFill>
              <a:latin typeface="Public Sans Medium" panose="00000700000000000000" pitchFamily="2" charset="0"/>
            </a:endParaRPr>
          </a:p>
        </p:txBody>
      </p:sp>
      <p:sp>
        <p:nvSpPr>
          <p:cNvPr id="370" name="SubTitle">
            <a:extLst>
              <a:ext uri="{FF2B5EF4-FFF2-40B4-BE49-F238E27FC236}">
                <a16:creationId xmlns:a16="http://schemas.microsoft.com/office/drawing/2014/main" id="{4C98517D-C9E4-E203-577B-BF1BFAAAFF3B}"/>
              </a:ext>
            </a:extLst>
          </p:cNvPr>
          <p:cNvSpPr txBox="1"/>
          <p:nvPr/>
        </p:nvSpPr>
        <p:spPr>
          <a:xfrm>
            <a:off x="604158" y="2611864"/>
            <a:ext cx="7714862" cy="590931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Problem (Students):</a:t>
            </a:r>
            <a:r>
              <a:rPr lang="en-US" sz="3200" dirty="0">
                <a:solidFill>
                  <a:schemeClr val="bg1"/>
                </a:solidFill>
              </a:rPr>
              <a:t> Hard to find exact moments in long videos; can’t recall which lecture has what; figures aren’t searchable; need help outside office hours.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Problem (Professors):</a:t>
            </a:r>
            <a:r>
              <a:rPr lang="en-US" sz="3200" dirty="0">
                <a:solidFill>
                  <a:schemeClr val="bg1"/>
                </a:solidFill>
              </a:rPr>
              <a:t> Repeat the same answers; limited visibility into pain points; large libraries are hard to manage/search; manual Q&amp;A is time-consuming.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C8F6A-A382-32C3-08A8-4EB1E8B1ABF1}"/>
              </a:ext>
            </a:extLst>
          </p:cNvPr>
          <p:cNvSpPr txBox="1"/>
          <p:nvPr/>
        </p:nvSpPr>
        <p:spPr>
          <a:xfrm>
            <a:off x="8666196" y="2611864"/>
            <a:ext cx="927462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Solution (Students):</a:t>
            </a:r>
            <a:r>
              <a:rPr lang="en-US" sz="3200" dirty="0">
                <a:solidFill>
                  <a:schemeClr val="bg1"/>
                </a:solidFill>
              </a:rPr>
              <a:t> Google-like lecture search with </a:t>
            </a:r>
            <a:r>
              <a:rPr lang="en-US" sz="3200" b="1" dirty="0">
                <a:solidFill>
                  <a:schemeClr val="bg1"/>
                </a:solidFill>
              </a:rPr>
              <a:t>exact timestamps</a:t>
            </a:r>
            <a:r>
              <a:rPr lang="en-US" sz="3200" dirty="0">
                <a:solidFill>
                  <a:schemeClr val="bg1"/>
                </a:solidFill>
              </a:rPr>
              <a:t>; ask about slides/images with </a:t>
            </a:r>
            <a:r>
              <a:rPr lang="en-US" sz="3200" b="1" dirty="0">
                <a:solidFill>
                  <a:schemeClr val="bg1"/>
                </a:solidFill>
              </a:rPr>
              <a:t>[</a:t>
            </a:r>
            <a:r>
              <a:rPr lang="en-US" sz="3200" b="1" dirty="0" err="1">
                <a:solidFill>
                  <a:schemeClr val="bg1"/>
                </a:solidFill>
              </a:rPr>
              <a:t>pdf:page</a:t>
            </a:r>
            <a:r>
              <a:rPr lang="en-US" sz="3200" b="1" dirty="0">
                <a:solidFill>
                  <a:schemeClr val="bg1"/>
                </a:solidFill>
              </a:rPr>
              <a:t>] citations</a:t>
            </a:r>
            <a:r>
              <a:rPr lang="en-US" sz="3200" dirty="0">
                <a:solidFill>
                  <a:schemeClr val="bg1"/>
                </a:solidFill>
              </a:rPr>
              <a:t>; </a:t>
            </a:r>
            <a:r>
              <a:rPr lang="en-US" sz="3200" b="1" dirty="0">
                <a:solidFill>
                  <a:schemeClr val="bg1"/>
                </a:solidFill>
              </a:rPr>
              <a:t>24/7</a:t>
            </a:r>
            <a:r>
              <a:rPr lang="en-US" sz="3200" dirty="0">
                <a:solidFill>
                  <a:schemeClr val="bg1"/>
                </a:solidFill>
              </a:rPr>
              <a:t> help for homework/exams.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Solution (Professors):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b="1" dirty="0">
                <a:solidFill>
                  <a:schemeClr val="bg1"/>
                </a:solidFill>
              </a:rPr>
              <a:t>Auto-ingest YouTube</a:t>
            </a:r>
            <a:r>
              <a:rPr lang="en-US" sz="3200" dirty="0">
                <a:solidFill>
                  <a:schemeClr val="bg1"/>
                </a:solidFill>
              </a:rPr>
              <a:t> (download → transcribe → index); </a:t>
            </a:r>
            <a:r>
              <a:rPr lang="en-US" sz="3200" b="1" dirty="0">
                <a:solidFill>
                  <a:schemeClr val="bg1"/>
                </a:solidFill>
              </a:rPr>
              <a:t>analytics</a:t>
            </a:r>
            <a:r>
              <a:rPr lang="en-US" sz="3200" dirty="0">
                <a:solidFill>
                  <a:schemeClr val="bg1"/>
                </a:solidFill>
              </a:rPr>
              <a:t> on top topics and referenced slides; </a:t>
            </a:r>
            <a:r>
              <a:rPr lang="en-US" sz="3200" b="1" dirty="0">
                <a:solidFill>
                  <a:schemeClr val="bg1"/>
                </a:solidFill>
              </a:rPr>
              <a:t>feedback &amp; CSV exports</a:t>
            </a:r>
            <a:r>
              <a:rPr lang="en-US" sz="3200" dirty="0">
                <a:solidFill>
                  <a:schemeClr val="bg1"/>
                </a:solidFill>
              </a:rPr>
              <a:t> for reports.</a:t>
            </a: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2C93F5-94AB-EEE1-B790-EA284B13ABC7}"/>
              </a:ext>
            </a:extLst>
          </p:cNvPr>
          <p:cNvSpPr txBox="1"/>
          <p:nvPr/>
        </p:nvSpPr>
        <p:spPr>
          <a:xfrm>
            <a:off x="17316450" y="9372600"/>
            <a:ext cx="64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B" sz="2400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4866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77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  <a:extLst>
              <a:ext uri="{0A159766-F9E1-4594-84B0-5BEEA8ACAA2D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4953000" y="2933700"/>
            <a:ext cx="8382000" cy="6591300"/>
          </a:xfrm>
          <a:prstGeom prst="rect">
            <a:avLst/>
          </a:prstGeom>
        </p:spPr>
      </p:pic>
      <p:sp>
        <p:nvSpPr>
          <p:cNvPr id="378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3394234"/>
            <a:ext cx="5938838" cy="933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630"/>
              </a:lnSpc>
            </a:pPr>
            <a:r>
              <a:rPr lang="en-US" sz="3000" b="1" spc="-36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System A</a:t>
            </a:r>
            <a:r>
              <a:rPr lang="en-US" sz="3000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 — Semantic Lecture Search</a:t>
            </a:r>
          </a:p>
        </p:txBody>
      </p:sp>
      <p:sp>
        <p:nvSpPr>
          <p:cNvPr id="37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4430554"/>
            <a:ext cx="5938838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Search transcribed YouTube lectures with </a:t>
            </a:r>
            <a:r>
              <a:rPr lang="en-US" sz="2700" b="1" spc="19" dirty="0">
                <a:solidFill>
                  <a:srgbClr val="B8B8B8"/>
                </a:solidFill>
                <a:latin typeface="Public Sans" panose="00000700000000000000" pitchFamily="2" charset="0"/>
              </a:rPr>
              <a:t>timestamped navigation</a:t>
            </a:r>
            <a:r>
              <a:rPr lang="en-US" sz="2700" spc="19" dirty="0">
                <a:solidFill>
                  <a:srgbClr val="B8B8B8"/>
                </a:solidFill>
                <a:latin typeface="Public Sans" panose="00000700000000000000" pitchFamily="2" charset="0"/>
              </a:rPr>
              <a:t> for precise playback.</a:t>
            </a:r>
          </a:p>
        </p:txBody>
      </p:sp>
      <p:sp>
        <p:nvSpPr>
          <p:cNvPr id="380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57718" y="5042059"/>
            <a:ext cx="5948362" cy="933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000" b="1" spc="-36" dirty="0">
                <a:solidFill>
                  <a:srgbClr val="F0F0F0">
                    <a:alpha val="100000"/>
                  </a:srgbClr>
                </a:solidFill>
                <a:latin typeface="Public Sans Medium" panose="00000700000000000000" pitchFamily="2" charset="0"/>
              </a:rPr>
              <a:t>System B</a:t>
            </a:r>
            <a:r>
              <a:rPr lang="en-US" sz="3000" spc="-36" dirty="0">
                <a:solidFill>
                  <a:srgbClr val="F0F0F0"/>
                </a:solidFill>
                <a:latin typeface="Public Sans Medium" panose="00000700000000000000" pitchFamily="2" charset="0"/>
              </a:rPr>
              <a:t> — Multimodal RAG Engine</a:t>
            </a:r>
          </a:p>
        </p:txBody>
      </p:sp>
      <p:sp>
        <p:nvSpPr>
          <p:cNvPr id="381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57718" y="6078379"/>
            <a:ext cx="5948362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Q&amp;A over PDF course materials with </a:t>
            </a:r>
            <a:r>
              <a:rPr lang="en-US" sz="2700" b="1" spc="19" dirty="0">
                <a:solidFill>
                  <a:srgbClr val="B8B8B8"/>
                </a:solidFill>
                <a:latin typeface="Public Sans" panose="00000700000000000000" pitchFamily="2" charset="0"/>
              </a:rPr>
              <a:t>text and image support</a:t>
            </a:r>
            <a:r>
              <a:rPr lang="en-US" sz="2700" spc="19" dirty="0">
                <a:solidFill>
                  <a:srgbClr val="B8B8B8"/>
                </a:solidFill>
                <a:latin typeface="Public Sans" panose="00000700000000000000" pitchFamily="2" charset="0"/>
              </a:rPr>
              <a:t> for rich retrieval.</a:t>
            </a:r>
          </a:p>
        </p:txBody>
      </p:sp>
      <p:sp>
        <p:nvSpPr>
          <p:cNvPr id="382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6920389"/>
            <a:ext cx="5938838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630"/>
              </a:lnSpc>
            </a:pPr>
            <a:r>
              <a:rPr lang="en-US" sz="3000" b="1" spc="-36" dirty="0">
                <a:solidFill>
                  <a:srgbClr val="E9E9E9">
                    <a:alpha val="100000"/>
                  </a:srgbClr>
                </a:solidFill>
                <a:latin typeface="Public Sans Medium" panose="00000700000000000000" pitchFamily="2" charset="0"/>
              </a:rPr>
              <a:t>Unified Interface</a:t>
            </a:r>
            <a:r>
              <a:rPr lang="en-US" sz="3000" spc="-36" dirty="0">
                <a:solidFill>
                  <a:srgbClr val="E9E9E9"/>
                </a:solidFill>
                <a:latin typeface="Public Sans Medium" panose="00000700000000000000" pitchFamily="2" charset="0"/>
              </a:rPr>
              <a:t> — Seamless UX</a:t>
            </a:r>
          </a:p>
        </p:txBody>
      </p:sp>
      <p:sp>
        <p:nvSpPr>
          <p:cNvPr id="383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7495699"/>
            <a:ext cx="5938838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Single entry for students and instructors combining both systems into one workflow.</a:t>
            </a:r>
          </a:p>
        </p:txBody>
      </p:sp>
      <p:sp>
        <p:nvSpPr>
          <p:cNvPr id="38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876300"/>
            <a:ext cx="15806738" cy="628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4872"/>
              </a:lnSpc>
            </a:pPr>
            <a:r>
              <a:rPr lang="en-US" sz="4200" spc="-34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Project Architecture Overview</a:t>
            </a:r>
          </a:p>
        </p:txBody>
      </p:sp>
      <p:sp>
        <p:nvSpPr>
          <p:cNvPr id="38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1600200"/>
            <a:ext cx="15806738" cy="8858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Dual modular systems (semantic lecture search + Multimodal RAG) unified under one student/</a:t>
            </a:r>
            <a:r>
              <a:rPr lang="en-US" sz="2700" spc="19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instructor interface </a:t>
            </a:r>
            <a:endParaRPr lang="en-US" sz="2700" spc="19" dirty="0">
              <a:solidFill>
                <a:srgbClr val="B8B8B8">
                  <a:alpha val="100000"/>
                </a:srgbClr>
              </a:solidFill>
              <a:latin typeface="Public Sans" panose="000007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F09CBB-A460-AF61-AC04-CEE4AE3B924A}"/>
              </a:ext>
            </a:extLst>
          </p:cNvPr>
          <p:cNvSpPr txBox="1"/>
          <p:nvPr/>
        </p:nvSpPr>
        <p:spPr>
          <a:xfrm>
            <a:off x="17316450" y="9372600"/>
            <a:ext cx="64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B" sz="2400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7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62000" y="2552700"/>
            <a:ext cx="3165425" cy="3381375"/>
          </a:xfrm>
          <a:prstGeom prst="rect">
            <a:avLst/>
          </a:prstGeom>
        </p:spPr>
      </p:pic>
      <p:pic>
        <p:nvPicPr>
          <p:cNvPr id="177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762000" y="2552700"/>
            <a:ext cx="3157091" cy="3359050"/>
          </a:xfrm>
          <a:prstGeom prst="rect">
            <a:avLst/>
          </a:prstGeom>
        </p:spPr>
      </p:pic>
      <p:sp>
        <p:nvSpPr>
          <p:cNvPr id="1777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6800" y="2857500"/>
            <a:ext cx="2138362" cy="113922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1" spc="17" dirty="0">
                <a:solidFill>
                  <a:srgbClr val="FFFFFF">
                    <a:alpha val="100000"/>
                  </a:srgbClr>
                </a:solidFill>
              </a:rPr>
              <a:t>Language:</a:t>
            </a:r>
            <a:r>
              <a:rPr lang="en-US" sz="2400" spc="17" dirty="0">
                <a:solidFill>
                  <a:srgbClr val="FFFFFF"/>
                </a:solidFill>
              </a:rPr>
              <a:t> </a:t>
            </a:r>
          </a:p>
          <a:p>
            <a:pPr algn="l">
              <a:lnSpc>
                <a:spcPts val="3000"/>
              </a:lnSpc>
            </a:pPr>
            <a:endParaRPr lang="en-US" sz="2400" spc="17" dirty="0">
              <a:solidFill>
                <a:srgbClr val="FFFFFF"/>
              </a:solidFill>
            </a:endParaRPr>
          </a:p>
          <a:p>
            <a:pPr algn="l">
              <a:lnSpc>
                <a:spcPts val="3000"/>
              </a:lnSpc>
            </a:pPr>
            <a:r>
              <a:rPr lang="en-US" sz="2400" spc="17" dirty="0">
                <a:solidFill>
                  <a:srgbClr val="FFFFFF"/>
                </a:solidFill>
              </a:rPr>
              <a:t>Python</a:t>
            </a:r>
          </a:p>
        </p:txBody>
      </p:sp>
      <p:pic>
        <p:nvPicPr>
          <p:cNvPr id="1779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  <a:extLst>
              <a:ext uri="{7042A3DA-745E-41BB-8229-89B32CAA6109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3322320" y="2857500"/>
            <a:ext cx="304705" cy="304705"/>
          </a:xfrm>
          <a:prstGeom prst="rect">
            <a:avLst/>
          </a:prstGeom>
        </p:spPr>
      </p:pic>
      <p:pic>
        <p:nvPicPr>
          <p:cNvPr id="17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4160425" y="2552700"/>
            <a:ext cx="3165425" cy="3381375"/>
          </a:xfrm>
          <a:prstGeom prst="rect">
            <a:avLst/>
          </a:prstGeom>
        </p:spPr>
      </p:pic>
      <p:pic>
        <p:nvPicPr>
          <p:cNvPr id="178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4160425" y="2552700"/>
            <a:ext cx="3157091" cy="3359050"/>
          </a:xfrm>
          <a:prstGeom prst="rect">
            <a:avLst/>
          </a:prstGeom>
        </p:spPr>
      </p:pic>
      <p:sp>
        <p:nvSpPr>
          <p:cNvPr id="178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65225" y="2857500"/>
            <a:ext cx="2138362" cy="1898148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1" spc="17" dirty="0">
                <a:solidFill>
                  <a:srgbClr val="FFFFFF">
                    <a:alpha val="100000"/>
                  </a:srgbClr>
                </a:solidFill>
                <a:cs typeface="Calibri" panose="020F0502020204030204" pitchFamily="34" charset="0"/>
              </a:rPr>
              <a:t>Frontend:</a:t>
            </a:r>
          </a:p>
          <a:p>
            <a:pPr algn="l">
              <a:lnSpc>
                <a:spcPts val="3000"/>
              </a:lnSpc>
            </a:pPr>
            <a:endParaRPr lang="en-US" sz="2400" b="1" spc="17" dirty="0">
              <a:solidFill>
                <a:srgbClr val="FFFFFF">
                  <a:alpha val="100000"/>
                </a:srgbClr>
              </a:solidFill>
              <a:cs typeface="Calibri" panose="020F0502020204030204" pitchFamily="34" charset="0"/>
            </a:endParaRPr>
          </a:p>
          <a:p>
            <a:pPr algn="l">
              <a:lnSpc>
                <a:spcPts val="3000"/>
              </a:lnSpc>
            </a:pPr>
            <a:r>
              <a:rPr lang="en-US" sz="2400" b="1" spc="17" dirty="0" err="1">
                <a:solidFill>
                  <a:srgbClr val="FFFFFF"/>
                </a:solidFill>
                <a:cs typeface="Calibri" panose="020F0502020204030204" pitchFamily="34" charset="0"/>
              </a:rPr>
              <a:t>Streamlit</a:t>
            </a:r>
            <a:endParaRPr lang="en-US" sz="2400" b="1" spc="17" dirty="0">
              <a:solidFill>
                <a:srgbClr val="FFFFFF"/>
              </a:solidFill>
              <a:cs typeface="Calibri" panose="020F0502020204030204" pitchFamily="34" charset="0"/>
            </a:endParaRPr>
          </a:p>
          <a:p>
            <a:pPr algn="l">
              <a:lnSpc>
                <a:spcPts val="3000"/>
              </a:lnSpc>
            </a:pPr>
            <a:r>
              <a:rPr lang="en-US" sz="2400" b="1" spc="17" dirty="0">
                <a:solidFill>
                  <a:srgbClr val="FFFFFF"/>
                </a:solidFill>
                <a:cs typeface="Calibri" panose="020F0502020204030204" pitchFamily="34" charset="0"/>
              </a:rPr>
              <a:t>CSS</a:t>
            </a:r>
          </a:p>
          <a:p>
            <a:pPr algn="l">
              <a:lnSpc>
                <a:spcPts val="3000"/>
              </a:lnSpc>
            </a:pPr>
            <a:r>
              <a:rPr lang="en-US" sz="2400" b="1" spc="17" dirty="0" err="1">
                <a:solidFill>
                  <a:srgbClr val="FFFFFF"/>
                </a:solidFill>
                <a:cs typeface="Calibri" panose="020F0502020204030204" pitchFamily="34" charset="0"/>
              </a:rPr>
              <a:t>Javascript</a:t>
            </a:r>
            <a:r>
              <a:rPr lang="en-US" sz="2400" b="1" spc="17" dirty="0">
                <a:solidFill>
                  <a:srgbClr val="FFFFFF"/>
                </a:solidFill>
                <a:cs typeface="Calibri" panose="020F0502020204030204" pitchFamily="34" charset="0"/>
              </a:rPr>
              <a:t> </a:t>
            </a:r>
            <a:endParaRPr lang="en-US" sz="2400" b="1" spc="17" dirty="0">
              <a:solidFill>
                <a:srgbClr val="FFFFFF">
                  <a:alpha val="100000"/>
                </a:srgbClr>
              </a:solidFill>
              <a:cs typeface="Calibri" panose="020F0502020204030204" pitchFamily="34" charset="0"/>
            </a:endParaRPr>
          </a:p>
        </p:txBody>
      </p:sp>
      <p:pic>
        <p:nvPicPr>
          <p:cNvPr id="1787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  <a:extLst>
              <a:ext uri="{4833C7DD-206D-4AF1-AB7C-0F7BA4A7764A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6720745" y="2857500"/>
            <a:ext cx="304705" cy="304705"/>
          </a:xfrm>
          <a:prstGeom prst="rect">
            <a:avLst/>
          </a:prstGeom>
        </p:spPr>
      </p:pic>
      <p:pic>
        <p:nvPicPr>
          <p:cNvPr id="17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558850" y="2552700"/>
            <a:ext cx="3165425" cy="3381375"/>
          </a:xfrm>
          <a:prstGeom prst="rect">
            <a:avLst/>
          </a:prstGeom>
        </p:spPr>
      </p:pic>
      <p:pic>
        <p:nvPicPr>
          <p:cNvPr id="179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7558850" y="2552700"/>
            <a:ext cx="3157091" cy="3359050"/>
          </a:xfrm>
          <a:prstGeom prst="rect">
            <a:avLst/>
          </a:prstGeom>
        </p:spPr>
      </p:pic>
      <p:sp>
        <p:nvSpPr>
          <p:cNvPr id="1793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72952" y="2875549"/>
            <a:ext cx="3051323" cy="337547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1" spc="17" dirty="0">
                <a:solidFill>
                  <a:schemeClr val="bg1"/>
                </a:solidFill>
              </a:rPr>
              <a:t>ML &amp; retrieval:</a:t>
            </a:r>
          </a:p>
          <a:p>
            <a:pPr algn="l">
              <a:lnSpc>
                <a:spcPts val="3000"/>
              </a:lnSpc>
            </a:pPr>
            <a:r>
              <a:rPr lang="en-US" sz="2400" dirty="0">
                <a:solidFill>
                  <a:schemeClr val="bg1"/>
                </a:solidFill>
              </a:rPr>
              <a:t>OpenAI API (GPT-4o-mini, text-embedding-3-large)</a:t>
            </a:r>
          </a:p>
          <a:p>
            <a:r>
              <a:rPr lang="en-US" sz="2400" dirty="0">
                <a:solidFill>
                  <a:schemeClr val="bg1"/>
                </a:solidFill>
              </a:rPr>
              <a:t>Sentence-Transformers (all-MiniLM-L6-v2) FAISS (vector index)</a:t>
            </a:r>
          </a:p>
          <a:p>
            <a:r>
              <a:rPr lang="en-US" sz="2400" dirty="0">
                <a:solidFill>
                  <a:schemeClr val="bg1"/>
                </a:solidFill>
              </a:rPr>
              <a:t>BM25 (rank_bm25)</a:t>
            </a:r>
          </a:p>
          <a:p>
            <a:pPr algn="l">
              <a:lnSpc>
                <a:spcPts val="3000"/>
              </a:lnSpc>
            </a:pPr>
            <a:endParaRPr lang="en-US" sz="2400" spc="17" dirty="0">
              <a:solidFill>
                <a:schemeClr val="bg1"/>
              </a:solidFill>
            </a:endParaRPr>
          </a:p>
        </p:txBody>
      </p:sp>
      <p:pic>
        <p:nvPicPr>
          <p:cNvPr id="1795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/>
            <a:extLst>
              <a:ext uri="{4ABB7E64-A857-454F-B1EC-06618F458F2E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0119265" y="2857500"/>
            <a:ext cx="304705" cy="304705"/>
          </a:xfrm>
          <a:prstGeom prst="rect">
            <a:avLst/>
          </a:prstGeom>
        </p:spPr>
      </p:pic>
      <p:pic>
        <p:nvPicPr>
          <p:cNvPr id="179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0957370" y="2552700"/>
            <a:ext cx="3165425" cy="3381375"/>
          </a:xfrm>
          <a:prstGeom prst="rect">
            <a:avLst/>
          </a:prstGeom>
        </p:spPr>
      </p:pic>
      <p:pic>
        <p:nvPicPr>
          <p:cNvPr id="179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10957370" y="2552700"/>
            <a:ext cx="3157091" cy="3359050"/>
          </a:xfrm>
          <a:prstGeom prst="rect">
            <a:avLst/>
          </a:prstGeom>
        </p:spPr>
      </p:pic>
      <p:sp>
        <p:nvSpPr>
          <p:cNvPr id="1801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62169" y="2857500"/>
            <a:ext cx="2560225" cy="266271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1" spc="17" dirty="0">
                <a:solidFill>
                  <a:srgbClr val="FFFFFF">
                    <a:alpha val="100000"/>
                  </a:srgbClr>
                </a:solidFill>
              </a:rPr>
              <a:t>Multimodal models:</a:t>
            </a:r>
            <a:r>
              <a:rPr lang="en-US" sz="2400" spc="17" dirty="0">
                <a:solidFill>
                  <a:srgbClr val="FFFFFF"/>
                </a:solidFill>
              </a:rPr>
              <a:t> </a:t>
            </a:r>
          </a:p>
          <a:p>
            <a:pPr algn="l">
              <a:lnSpc>
                <a:spcPts val="3000"/>
              </a:lnSpc>
            </a:pPr>
            <a:endParaRPr lang="en-US" sz="2400" spc="17" dirty="0">
              <a:solidFill>
                <a:srgbClr val="FFFFFF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CLIP (image ↔ text)</a:t>
            </a:r>
          </a:p>
          <a:p>
            <a:pPr>
              <a:lnSpc>
                <a:spcPts val="3000"/>
              </a:lnSpc>
            </a:pPr>
            <a:r>
              <a:rPr lang="en-US" sz="2400" dirty="0">
                <a:solidFill>
                  <a:schemeClr val="bg1"/>
                </a:solidFill>
              </a:rPr>
              <a:t>Whisper (speech → text)</a:t>
            </a:r>
          </a:p>
          <a:p>
            <a:pPr algn="l">
              <a:lnSpc>
                <a:spcPts val="3000"/>
              </a:lnSpc>
            </a:pPr>
            <a:endParaRPr lang="en-US" sz="2400" spc="17" dirty="0">
              <a:solidFill>
                <a:srgbClr val="FFFFFF"/>
              </a:solidFill>
            </a:endParaRPr>
          </a:p>
        </p:txBody>
      </p:sp>
      <p:pic>
        <p:nvPicPr>
          <p:cNvPr id="1803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  <a:extLst>
              <a:ext uri="{016717C2-D0B3-4490-9891-7C7702B7FB4C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3517690" y="2857500"/>
            <a:ext cx="304705" cy="304705"/>
          </a:xfrm>
          <a:prstGeom prst="rect">
            <a:avLst/>
          </a:prstGeom>
        </p:spPr>
      </p:pic>
      <p:pic>
        <p:nvPicPr>
          <p:cNvPr id="18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4355794" y="2552700"/>
            <a:ext cx="3165425" cy="3381375"/>
          </a:xfrm>
          <a:prstGeom prst="rect">
            <a:avLst/>
          </a:prstGeom>
        </p:spPr>
      </p:pic>
      <p:pic>
        <p:nvPicPr>
          <p:cNvPr id="180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14355794" y="2552700"/>
            <a:ext cx="3157091" cy="3359050"/>
          </a:xfrm>
          <a:prstGeom prst="rect">
            <a:avLst/>
          </a:prstGeom>
        </p:spPr>
      </p:pic>
      <p:sp>
        <p:nvSpPr>
          <p:cNvPr id="1809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660593" y="2857500"/>
            <a:ext cx="2852291" cy="152394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1" spc="17" dirty="0">
                <a:solidFill>
                  <a:srgbClr val="FFFFFF">
                    <a:alpha val="100000"/>
                  </a:srgbClr>
                </a:solidFill>
              </a:rPr>
              <a:t>Media tools:</a:t>
            </a:r>
          </a:p>
          <a:p>
            <a:pPr algn="l">
              <a:lnSpc>
                <a:spcPts val="3000"/>
              </a:lnSpc>
            </a:pPr>
            <a:endParaRPr lang="en-US" sz="2400" b="1" spc="17" dirty="0">
              <a:solidFill>
                <a:srgbClr val="FFFFFF">
                  <a:alpha val="100000"/>
                </a:srgbClr>
              </a:solidFill>
            </a:endParaRPr>
          </a:p>
          <a:p>
            <a:pPr algn="l">
              <a:lnSpc>
                <a:spcPts val="3000"/>
              </a:lnSpc>
            </a:pPr>
            <a:endParaRPr lang="en-US" sz="2400" b="1" spc="17" dirty="0">
              <a:solidFill>
                <a:srgbClr val="FFFFFF">
                  <a:alpha val="100000"/>
                </a:srgbClr>
              </a:solidFill>
            </a:endParaRPr>
          </a:p>
          <a:p>
            <a:pPr algn="l">
              <a:lnSpc>
                <a:spcPts val="3000"/>
              </a:lnSpc>
            </a:pPr>
            <a:r>
              <a:rPr lang="en-US" sz="2400" spc="17" dirty="0">
                <a:solidFill>
                  <a:srgbClr val="FFFFFF"/>
                </a:solidFill>
              </a:rPr>
              <a:t> ffmpeg, yt-dlp</a:t>
            </a:r>
          </a:p>
        </p:txBody>
      </p:sp>
      <p:pic>
        <p:nvPicPr>
          <p:cNvPr id="1811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alphaModFix/>
            <a:extLst>
              <a:ext uri="{67499373-A601-4E0C-8D7F-EE2168BA4F1B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6916114" y="2857500"/>
            <a:ext cx="304705" cy="304705"/>
          </a:xfrm>
          <a:prstGeom prst="rect">
            <a:avLst/>
          </a:prstGeom>
        </p:spPr>
      </p:pic>
      <p:pic>
        <p:nvPicPr>
          <p:cNvPr id="18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4160425" y="6153150"/>
            <a:ext cx="3165425" cy="3381375"/>
          </a:xfrm>
          <a:prstGeom prst="rect">
            <a:avLst/>
          </a:prstGeom>
        </p:spPr>
      </p:pic>
      <p:pic>
        <p:nvPicPr>
          <p:cNvPr id="182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4160425" y="6153150"/>
            <a:ext cx="3157091" cy="3359050"/>
          </a:xfrm>
          <a:prstGeom prst="rect">
            <a:avLst/>
          </a:prstGeom>
        </p:spPr>
      </p:pic>
      <p:sp>
        <p:nvSpPr>
          <p:cNvPr id="1825" name="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65225" y="6457950"/>
            <a:ext cx="2138362" cy="228286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sz="2400" b="1" spc="17" dirty="0">
                <a:solidFill>
                  <a:srgbClr val="FFFFFF">
                    <a:alpha val="100000"/>
                  </a:srgbClr>
                </a:solidFill>
              </a:rPr>
              <a:t>Visualization:</a:t>
            </a:r>
          </a:p>
          <a:p>
            <a:pPr>
              <a:lnSpc>
                <a:spcPts val="3000"/>
              </a:lnSpc>
            </a:pPr>
            <a:endParaRPr lang="en-US" sz="2400" b="1" spc="17" dirty="0">
              <a:solidFill>
                <a:srgbClr val="FFFFFF">
                  <a:alpha val="100000"/>
                </a:srgbClr>
              </a:solidFill>
            </a:endParaRPr>
          </a:p>
          <a:p>
            <a:pPr>
              <a:lnSpc>
                <a:spcPts val="3000"/>
              </a:lnSpc>
            </a:pPr>
            <a:r>
              <a:rPr lang="en-US" sz="2400" spc="17" dirty="0">
                <a:solidFill>
                  <a:schemeClr val="bg1"/>
                </a:solidFill>
              </a:rPr>
              <a:t>Altair, </a:t>
            </a:r>
            <a:r>
              <a:rPr lang="en-US" sz="2400" spc="17" dirty="0" err="1">
                <a:solidFill>
                  <a:schemeClr val="bg1"/>
                </a:solidFill>
              </a:rPr>
              <a:t>Plotly</a:t>
            </a:r>
            <a:r>
              <a:rPr lang="en-US" sz="2400" spc="17" dirty="0">
                <a:solidFill>
                  <a:schemeClr val="bg1"/>
                </a:solidFill>
              </a:rPr>
              <a:t>,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WordCloud</a:t>
            </a:r>
            <a:r>
              <a:rPr lang="en-US" sz="2400" dirty="0">
                <a:solidFill>
                  <a:schemeClr val="bg1"/>
                </a:solidFill>
              </a:rPr>
              <a:t>, matplotlib</a:t>
            </a:r>
          </a:p>
          <a:p>
            <a:pPr algn="l">
              <a:lnSpc>
                <a:spcPts val="3000"/>
              </a:lnSpc>
            </a:pPr>
            <a:endParaRPr lang="en-US" sz="2400" spc="17" dirty="0">
              <a:solidFill>
                <a:srgbClr val="FFFFFF"/>
              </a:solidFill>
            </a:endParaRPr>
          </a:p>
        </p:txBody>
      </p:sp>
      <p:pic>
        <p:nvPicPr>
          <p:cNvPr id="1827" name="iconNode6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/>
            <a:extLst>
              <a:ext uri="{EDADE3B2-591A-4198-A045-3493155177AC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6720745" y="6457950"/>
            <a:ext cx="304705" cy="304705"/>
          </a:xfrm>
          <a:prstGeom prst="rect">
            <a:avLst/>
          </a:prstGeom>
        </p:spPr>
      </p:pic>
      <p:pic>
        <p:nvPicPr>
          <p:cNvPr id="18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558850" y="6153150"/>
            <a:ext cx="3165425" cy="3381375"/>
          </a:xfrm>
          <a:prstGeom prst="rect">
            <a:avLst/>
          </a:prstGeom>
        </p:spPr>
      </p:pic>
      <p:pic>
        <p:nvPicPr>
          <p:cNvPr id="183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7558850" y="6153150"/>
            <a:ext cx="3157091" cy="3359050"/>
          </a:xfrm>
          <a:prstGeom prst="rect">
            <a:avLst/>
          </a:prstGeom>
        </p:spPr>
      </p:pic>
      <p:sp>
        <p:nvSpPr>
          <p:cNvPr id="1833" name="Primary Heading-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63650" y="6457950"/>
            <a:ext cx="2138362" cy="229338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1" spc="17" dirty="0">
                <a:solidFill>
                  <a:srgbClr val="FFFFFF">
                    <a:alpha val="100000"/>
                  </a:srgbClr>
                </a:solidFill>
              </a:rPr>
              <a:t>Deployment &amp; Development :</a:t>
            </a:r>
          </a:p>
          <a:p>
            <a:pPr algn="l">
              <a:lnSpc>
                <a:spcPts val="3000"/>
              </a:lnSpc>
            </a:pPr>
            <a:r>
              <a:rPr lang="en-US" sz="2400" spc="17" dirty="0">
                <a:solidFill>
                  <a:srgbClr val="FFFFFF"/>
                </a:solidFill>
              </a:rPr>
              <a:t> </a:t>
            </a:r>
          </a:p>
          <a:p>
            <a:pPr algn="l">
              <a:lnSpc>
                <a:spcPts val="3000"/>
              </a:lnSpc>
            </a:pPr>
            <a:r>
              <a:rPr lang="en-US" sz="2400" spc="17" dirty="0">
                <a:solidFill>
                  <a:srgbClr val="FFFFFF"/>
                </a:solidFill>
              </a:rPr>
              <a:t>VS Code</a:t>
            </a:r>
          </a:p>
          <a:p>
            <a:pPr algn="l">
              <a:lnSpc>
                <a:spcPts val="3000"/>
              </a:lnSpc>
            </a:pPr>
            <a:r>
              <a:rPr lang="en-US" sz="2400" spc="17" dirty="0">
                <a:solidFill>
                  <a:srgbClr val="FFFFFF"/>
                </a:solidFill>
              </a:rPr>
              <a:t>Local, Docker</a:t>
            </a:r>
          </a:p>
          <a:p>
            <a:pPr algn="l">
              <a:lnSpc>
                <a:spcPts val="3000"/>
              </a:lnSpc>
            </a:pPr>
            <a:r>
              <a:rPr lang="en-US" sz="2400" spc="17" dirty="0">
                <a:solidFill>
                  <a:srgbClr val="FFFFFF"/>
                </a:solidFill>
              </a:rPr>
              <a:t>Git</a:t>
            </a:r>
          </a:p>
        </p:txBody>
      </p:sp>
      <p:pic>
        <p:nvPicPr>
          <p:cNvPr id="1835" name="iconNode7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  <a:extLst>
              <a:ext uri="{E13C7B2E-FAA6-449F-8B9E-E04E670BF936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0119265" y="6457950"/>
            <a:ext cx="304705" cy="304705"/>
          </a:xfrm>
          <a:prstGeom prst="rect">
            <a:avLst/>
          </a:prstGeom>
        </p:spPr>
      </p:pic>
      <p:pic>
        <p:nvPicPr>
          <p:cNvPr id="18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0957370" y="6153150"/>
            <a:ext cx="3165425" cy="3381375"/>
          </a:xfrm>
          <a:prstGeom prst="rect">
            <a:avLst/>
          </a:prstGeom>
        </p:spPr>
      </p:pic>
      <p:pic>
        <p:nvPicPr>
          <p:cNvPr id="183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10957370" y="6153150"/>
            <a:ext cx="3157091" cy="3359050"/>
          </a:xfrm>
          <a:prstGeom prst="rect">
            <a:avLst/>
          </a:prstGeom>
        </p:spPr>
      </p:pic>
      <p:sp>
        <p:nvSpPr>
          <p:cNvPr id="1841" name="Primary Heading-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107762" y="6399912"/>
            <a:ext cx="3006700" cy="3832268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sz="2400" spc="17" dirty="0">
                <a:solidFill>
                  <a:schemeClr val="bg1"/>
                </a:solidFill>
              </a:rPr>
              <a:t>Summary: </a:t>
            </a:r>
          </a:p>
          <a:p>
            <a:pPr>
              <a:lnSpc>
                <a:spcPts val="3000"/>
              </a:lnSpc>
            </a:pPr>
            <a:r>
              <a:rPr lang="en-US" sz="2000" b="1" dirty="0">
                <a:solidFill>
                  <a:schemeClr val="bg1"/>
                </a:solidFill>
              </a:rPr>
              <a:t>Hybrid RAG (</a:t>
            </a:r>
            <a:r>
              <a:rPr lang="en-US" sz="2000" b="1" dirty="0" err="1">
                <a:solidFill>
                  <a:schemeClr val="bg1"/>
                </a:solidFill>
              </a:rPr>
              <a:t>text+images</a:t>
            </a:r>
            <a:r>
              <a:rPr lang="en-US" sz="2000" b="1" dirty="0">
                <a:solidFill>
                  <a:schemeClr val="bg1"/>
                </a:solidFill>
              </a:rPr>
              <a:t>) with slide citations + YouTube ingestion (</a:t>
            </a:r>
            <a:r>
              <a:rPr lang="en-US" sz="2000" b="1" dirty="0" err="1">
                <a:solidFill>
                  <a:schemeClr val="bg1"/>
                </a:solidFill>
              </a:rPr>
              <a:t>URL→download→Whisper→timestamp</a:t>
            </a:r>
            <a:r>
              <a:rPr lang="en-US" sz="2000" b="1" dirty="0">
                <a:solidFill>
                  <a:schemeClr val="bg1"/>
                </a:solidFill>
              </a:rPr>
              <a:t> search); </a:t>
            </a:r>
            <a:r>
              <a:rPr lang="en-US" sz="2000" b="1" dirty="0" err="1">
                <a:solidFill>
                  <a:schemeClr val="bg1"/>
                </a:solidFill>
              </a:rPr>
              <a:t>Streamlit</a:t>
            </a:r>
            <a:r>
              <a:rPr lang="en-US" sz="2000" b="1" dirty="0">
                <a:solidFill>
                  <a:schemeClr val="bg1"/>
                </a:solidFill>
              </a:rPr>
              <a:t> in Docker; analytics dashboards.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lnSpc>
                <a:spcPts val="3000"/>
              </a:lnSpc>
            </a:pPr>
            <a:endParaRPr lang="en-US" sz="2400" dirty="0">
              <a:solidFill>
                <a:schemeClr val="bg1"/>
              </a:solidFill>
            </a:endParaRPr>
          </a:p>
          <a:p>
            <a:pPr algn="l">
              <a:lnSpc>
                <a:spcPts val="3000"/>
              </a:lnSpc>
            </a:pPr>
            <a:endParaRPr lang="en-US" sz="2400" spc="17" dirty="0">
              <a:solidFill>
                <a:schemeClr val="bg1"/>
              </a:solidFill>
            </a:endParaRPr>
          </a:p>
        </p:txBody>
      </p:sp>
      <p:pic>
        <p:nvPicPr>
          <p:cNvPr id="1843" name="iconNode8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5F1CA0BC-732B-47AB-8D4B-33D40586D7BC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3517690" y="6457950"/>
            <a:ext cx="304705" cy="304705"/>
          </a:xfrm>
          <a:prstGeom prst="rect">
            <a:avLst/>
          </a:prstGeom>
        </p:spPr>
      </p:pic>
      <p:sp>
        <p:nvSpPr>
          <p:cNvPr id="1845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879920"/>
            <a:ext cx="158067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sz="4800" spc="-38" dirty="0">
                <a:solidFill>
                  <a:srgbClr val="FFFFFF">
                    <a:alpha val="100000"/>
                  </a:srgbClr>
                </a:solidFill>
              </a:rPr>
              <a:t>Development Environment &amp; Dependencies</a:t>
            </a:r>
          </a:p>
        </p:txBody>
      </p:sp>
      <p:sp>
        <p:nvSpPr>
          <p:cNvPr id="184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1714500"/>
            <a:ext cx="15806738" cy="37939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096"/>
              </a:lnSpc>
            </a:pPr>
            <a:r>
              <a:rPr lang="en-US" sz="2400" spc="17" dirty="0">
                <a:solidFill>
                  <a:srgbClr val="B8B8B8">
                    <a:alpha val="100000"/>
                  </a:srgbClr>
                </a:solidFill>
              </a:rPr>
              <a:t>Core languages, libraries, development and deployment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E6F934-C0DC-F829-33F6-6165961470E0}"/>
              </a:ext>
            </a:extLst>
          </p:cNvPr>
          <p:cNvSpPr txBox="1"/>
          <p:nvPr/>
        </p:nvSpPr>
        <p:spPr>
          <a:xfrm>
            <a:off x="17316450" y="9372600"/>
            <a:ext cx="64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B" sz="2400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9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93" name="2bad1fa4-7308-4c95-b3ae-7e65f4713a8d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0" y="0"/>
            <a:ext cx="9105900" cy="10287000"/>
          </a:xfrm>
          <a:prstGeom prst="rect">
            <a:avLst/>
          </a:prstGeom>
        </p:spPr>
      </p:pic>
      <p:pic>
        <p:nvPicPr>
          <p:cNvPr id="3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8382000" y="4324350"/>
            <a:ext cx="1371600" cy="1390650"/>
          </a:xfrm>
          <a:prstGeom prst="rect">
            <a:avLst/>
          </a:prstGeom>
        </p:spPr>
      </p:pic>
      <p:pic>
        <p:nvPicPr>
          <p:cNvPr id="397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BDC5E68E-70B4-4468-8A89-2B8C09421B8A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8734425" y="4676775"/>
            <a:ext cx="666750" cy="666750"/>
          </a:xfrm>
          <a:prstGeom prst="rect">
            <a:avLst/>
          </a:prstGeom>
        </p:spPr>
      </p:pic>
      <p:sp>
        <p:nvSpPr>
          <p:cNvPr id="399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96500" y="4346638"/>
            <a:ext cx="7119938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Transcription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: Automatic audio download with </a:t>
            </a:r>
            <a:r>
              <a:rPr lang="en-US" sz="2700" b="1" spc="19" dirty="0">
                <a:solidFill>
                  <a:srgbClr val="FFFFFF"/>
                </a:solidFill>
                <a:latin typeface="Public Sans" panose="00000700000000000000" pitchFamily="2" charset="0"/>
              </a:rPr>
              <a:t>Whisper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-powered, high-fidelity transcripts</a:t>
            </a:r>
          </a:p>
        </p:txBody>
      </p:sp>
      <p:pic>
        <p:nvPicPr>
          <p:cNvPr id="4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8382000" y="6076950"/>
            <a:ext cx="1371600" cy="1390650"/>
          </a:xfrm>
          <a:prstGeom prst="rect">
            <a:avLst/>
          </a:prstGeom>
        </p:spPr>
      </p:pic>
      <p:pic>
        <p:nvPicPr>
          <p:cNvPr id="403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  <a:extLst>
              <a:ext uri="{21EF65D9-18B6-4A94-B2B8-6DE80AD4F101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8734425" y="6429375"/>
            <a:ext cx="666750" cy="666750"/>
          </a:xfrm>
          <a:prstGeom prst="rect">
            <a:avLst/>
          </a:prstGeom>
        </p:spPr>
      </p:pic>
      <p:sp>
        <p:nvSpPr>
          <p:cNvPr id="40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96500" y="6099238"/>
            <a:ext cx="7119938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Timestamp navigation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: Timestamp-accurate segment search to jump to exact lecture moments</a:t>
            </a:r>
          </a:p>
        </p:txBody>
      </p:sp>
      <p:pic>
        <p:nvPicPr>
          <p:cNvPr id="4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8382000" y="7829550"/>
            <a:ext cx="1371600" cy="1390650"/>
          </a:xfrm>
          <a:prstGeom prst="rect">
            <a:avLst/>
          </a:prstGeom>
        </p:spPr>
      </p:pic>
      <p:pic>
        <p:nvPicPr>
          <p:cNvPr id="409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  <a:extLst>
              <a:ext uri="{F4D1CC15-ADBF-47B7-AF24-10DEBA34DE15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8734425" y="8181975"/>
            <a:ext cx="666750" cy="666750"/>
          </a:xfrm>
          <a:prstGeom prst="rect">
            <a:avLst/>
          </a:prstGeom>
        </p:spPr>
      </p:pic>
      <p:sp>
        <p:nvSpPr>
          <p:cNvPr id="411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96500" y="8073009"/>
            <a:ext cx="7119938" cy="895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Analytics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: Engagement tracking and query analytics to monitor usage patterns</a:t>
            </a:r>
          </a:p>
        </p:txBody>
      </p:sp>
      <p:sp>
        <p:nvSpPr>
          <p:cNvPr id="41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06000" y="884492"/>
            <a:ext cx="7653338" cy="1247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872"/>
              </a:lnSpc>
            </a:pPr>
            <a:r>
              <a:rPr lang="en-US" sz="4200" spc="-34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System A — YouTube Lecture Assistant</a:t>
            </a:r>
          </a:p>
        </p:txBody>
      </p:sp>
      <p:sp>
        <p:nvSpPr>
          <p:cNvPr id="41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06000" y="2247900"/>
            <a:ext cx="7653338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Semantic search, Whisper transcription, timestamp navigation, and usage analytics for lecture discovery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290AB3-C155-9D3A-C516-A4E889130917}"/>
              </a:ext>
            </a:extLst>
          </p:cNvPr>
          <p:cNvSpPr txBox="1"/>
          <p:nvPr/>
        </p:nvSpPr>
        <p:spPr>
          <a:xfrm>
            <a:off x="17316450" y="9372600"/>
            <a:ext cx="64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B" sz="2400" dirty="0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20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A474FA11-3C71-4508-B247-EB532E746B76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0" y="3139381"/>
            <a:ext cx="18288000" cy="7147619"/>
          </a:xfrm>
          <a:prstGeom prst="rect">
            <a:avLst/>
          </a:prstGeom>
        </p:spPr>
      </p:pic>
      <p:sp>
        <p:nvSpPr>
          <p:cNvPr id="421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33533" y="3379946"/>
            <a:ext cx="11063288" cy="9906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 b="1" spc="21" dirty="0">
                <a:solidFill>
                  <a:srgbClr val="000000">
                    <a:alpha val="100000"/>
                  </a:srgbClr>
                </a:solidFill>
                <a:latin typeface="Public Sans" panose="00000700000000000000" pitchFamily="2" charset="0"/>
              </a:rPr>
              <a:t>Rich metadata</a:t>
            </a:r>
            <a:r>
              <a:rPr lang="en-US" sz="3000" spc="21" dirty="0">
                <a:solidFill>
                  <a:srgbClr val="000000"/>
                </a:solidFill>
                <a:latin typeface="Public Sans" panose="00000700000000000000" pitchFamily="2" charset="0"/>
              </a:rPr>
              <a:t> per lecture (tags, topics, week) for precise organization and search</a:t>
            </a:r>
          </a:p>
        </p:txBody>
      </p:sp>
      <p:sp>
        <p:nvSpPr>
          <p:cNvPr id="422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33533" y="4804696"/>
            <a:ext cx="11063288" cy="9906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 b="1" spc="21" dirty="0">
                <a:solidFill>
                  <a:srgbClr val="000000">
                    <a:alpha val="100000"/>
                  </a:srgbClr>
                </a:solidFill>
                <a:latin typeface="Public Sans" panose="00000700000000000000" pitchFamily="2" charset="0"/>
              </a:rPr>
              <a:t>Bulk lecture management</a:t>
            </a:r>
            <a:r>
              <a:rPr lang="en-US" sz="3000" spc="21" dirty="0">
                <a:solidFill>
                  <a:srgbClr val="000000"/>
                </a:solidFill>
                <a:latin typeface="Public Sans" panose="00000700000000000000" pitchFamily="2" charset="0"/>
              </a:rPr>
              <a:t>: upload, update, or organize multiple lectures at once</a:t>
            </a:r>
          </a:p>
        </p:txBody>
      </p:sp>
      <p:sp>
        <p:nvSpPr>
          <p:cNvPr id="423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33533" y="6229255"/>
            <a:ext cx="11063288" cy="9906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 spc="21" dirty="0">
                <a:solidFill>
                  <a:srgbClr val="000000">
                    <a:alpha val="100000"/>
                  </a:srgbClr>
                </a:solidFill>
                <a:latin typeface="Public Sans" panose="00000700000000000000" pitchFamily="2" charset="0"/>
              </a:rPr>
              <a:t>Organize by </a:t>
            </a:r>
            <a:r>
              <a:rPr lang="en-US" sz="3000" b="1" spc="21" dirty="0">
                <a:solidFill>
                  <a:srgbClr val="000000"/>
                </a:solidFill>
                <a:latin typeface="Public Sans" panose="00000700000000000000" pitchFamily="2" charset="0"/>
              </a:rPr>
              <a:t>topics or weeks</a:t>
            </a:r>
            <a:r>
              <a:rPr lang="en-US" sz="3000" spc="21" dirty="0">
                <a:solidFill>
                  <a:srgbClr val="000000"/>
                </a:solidFill>
                <a:latin typeface="Public Sans" panose="00000700000000000000" pitchFamily="2" charset="0"/>
              </a:rPr>
              <a:t> with thumbnail previews for fast navigation</a:t>
            </a:r>
          </a:p>
        </p:txBody>
      </p:sp>
      <p:sp>
        <p:nvSpPr>
          <p:cNvPr id="424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33533" y="7653909"/>
            <a:ext cx="11053762" cy="9906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 b="1" spc="21" dirty="0">
                <a:solidFill>
                  <a:srgbClr val="000000">
                    <a:alpha val="100000"/>
                  </a:srgbClr>
                </a:solidFill>
                <a:latin typeface="Public Sans" panose="00000700000000000000" pitchFamily="2" charset="0"/>
              </a:rPr>
              <a:t>Edit or delete</a:t>
            </a:r>
            <a:r>
              <a:rPr lang="en-US" sz="3000" spc="21" dirty="0">
                <a:solidFill>
                  <a:srgbClr val="000000"/>
                </a:solidFill>
                <a:latin typeface="Public Sans" panose="00000700000000000000" pitchFamily="2" charset="0"/>
              </a:rPr>
              <a:t> lectures by professors with inline thumbnail preview</a:t>
            </a:r>
          </a:p>
        </p:txBody>
      </p:sp>
      <p:sp>
        <p:nvSpPr>
          <p:cNvPr id="425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33533" y="9078658"/>
            <a:ext cx="11063288" cy="9906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 b="1" spc="21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Secure management access</a:t>
            </a:r>
            <a:r>
              <a:rPr lang="en-US" sz="3000" spc="21" dirty="0">
                <a:solidFill>
                  <a:srgbClr val="FFFFFF"/>
                </a:solidFill>
                <a:latin typeface="Public Sans" panose="00000700000000000000" pitchFamily="2" charset="0"/>
              </a:rPr>
              <a:t>: professor-only controls to keep content current and relevant</a:t>
            </a:r>
          </a:p>
        </p:txBody>
      </p:sp>
      <p:sp>
        <p:nvSpPr>
          <p:cNvPr id="42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884110"/>
            <a:ext cx="15806738" cy="1247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4872"/>
              </a:lnSpc>
            </a:pPr>
            <a:r>
              <a:rPr lang="en-US" sz="4200" spc="-34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System A — YouTube Lecture Assistant: Lecture Management &amp; Security</a:t>
            </a:r>
          </a:p>
        </p:txBody>
      </p:sp>
      <p:sp>
        <p:nvSpPr>
          <p:cNvPr id="42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2247900"/>
            <a:ext cx="15806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Streamlined bulk management, rich metadata, editable lectures, and secure professor access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925A93-F536-E2F1-0F05-25D922279855}"/>
              </a:ext>
            </a:extLst>
          </p:cNvPr>
          <p:cNvSpPr txBox="1"/>
          <p:nvPr/>
        </p:nvSpPr>
        <p:spPr>
          <a:xfrm>
            <a:off x="17454467" y="9607593"/>
            <a:ext cx="64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B" sz="2400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800100" y="952500"/>
            <a:ext cx="8305800" cy="8534400"/>
          </a:xfrm>
          <a:prstGeom prst="rect">
            <a:avLst/>
          </a:prstGeom>
        </p:spPr>
      </p:pic>
      <p:pic>
        <p:nvPicPr>
          <p:cNvPr id="4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257300" y="1781556"/>
            <a:ext cx="533400" cy="533400"/>
          </a:xfrm>
          <a:prstGeom prst="rect">
            <a:avLst/>
          </a:prstGeom>
        </p:spPr>
      </p:pic>
      <p:sp>
        <p:nvSpPr>
          <p:cNvPr id="439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57039" y="1808131"/>
            <a:ext cx="166688" cy="485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520" dirty="0">
                <a:solidFill>
                  <a:srgbClr val="FFFFFF">
                    <a:alpha val="100000"/>
                  </a:srgbClr>
                </a:solidFill>
                <a:latin typeface="Public Sans SemiBold" panose="00000700000000000000" pitchFamily="2" charset="0"/>
              </a:rPr>
              <a:t>1</a:t>
            </a:r>
          </a:p>
        </p:txBody>
      </p:sp>
      <p:sp>
        <p:nvSpPr>
          <p:cNvPr id="441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2467356"/>
            <a:ext cx="742473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3300" b="1" spc="-40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Multimodal input</a:t>
            </a:r>
            <a:r>
              <a:rPr lang="en-US" sz="3300" spc="-40" dirty="0">
                <a:solidFill>
                  <a:srgbClr val="FFFFFF"/>
                </a:solidFill>
                <a:latin typeface="Public Sans Medium" panose="00000700000000000000" pitchFamily="2" charset="0"/>
              </a:rPr>
              <a:t>: Accepts text queries, image attachments (slide screenshots), or both</a:t>
            </a:r>
          </a:p>
        </p:txBody>
      </p:sp>
      <p:pic>
        <p:nvPicPr>
          <p:cNvPr id="4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257300" y="4169664"/>
            <a:ext cx="7391400" cy="19050"/>
          </a:xfrm>
          <a:prstGeom prst="rect">
            <a:avLst/>
          </a:prstGeom>
        </p:spPr>
      </p:pic>
      <p:pic>
        <p:nvPicPr>
          <p:cNvPr id="4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257300" y="4369689"/>
            <a:ext cx="533400" cy="533400"/>
          </a:xfrm>
          <a:prstGeom prst="rect">
            <a:avLst/>
          </a:prstGeom>
        </p:spPr>
      </p:pic>
      <p:sp>
        <p:nvSpPr>
          <p:cNvPr id="447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25130" y="4396264"/>
            <a:ext cx="233362" cy="485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520" dirty="0">
                <a:solidFill>
                  <a:srgbClr val="FFFFFF">
                    <a:alpha val="100000"/>
                  </a:srgbClr>
                </a:solidFill>
                <a:latin typeface="Public Sans SemiBold" panose="00000700000000000000" pitchFamily="2" charset="0"/>
              </a:rPr>
              <a:t>2</a:t>
            </a:r>
          </a:p>
        </p:txBody>
      </p:sp>
      <p:sp>
        <p:nvSpPr>
          <p:cNvPr id="449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5055489"/>
            <a:ext cx="7424738" cy="1019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3300" b="1" spc="-40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GPT generation</a:t>
            </a:r>
            <a:r>
              <a:rPr lang="en-US" sz="3300" spc="-40" dirty="0">
                <a:solidFill>
                  <a:srgbClr val="FFFFFF"/>
                </a:solidFill>
                <a:latin typeface="Public Sans Medium" panose="00000700000000000000" pitchFamily="2" charset="0"/>
              </a:rPr>
              <a:t>: Uses </a:t>
            </a:r>
            <a:r>
              <a:rPr lang="en-US" sz="3300" b="1" spc="-40" dirty="0">
                <a:solidFill>
                  <a:srgbClr val="FFFFFF"/>
                </a:solidFill>
                <a:latin typeface="Public Sans Medium" panose="00000700000000000000" pitchFamily="2" charset="0"/>
              </a:rPr>
              <a:t>GPT-4o-mini</a:t>
            </a:r>
            <a:r>
              <a:rPr lang="en-US" sz="3300" spc="-40" dirty="0">
                <a:solidFill>
                  <a:srgbClr val="FFFFFF"/>
                </a:solidFill>
                <a:latin typeface="Public Sans Medium" panose="00000700000000000000" pitchFamily="2" charset="0"/>
              </a:rPr>
              <a:t> for concise, accurate answers</a:t>
            </a:r>
          </a:p>
        </p:txBody>
      </p:sp>
      <p:pic>
        <p:nvPicPr>
          <p:cNvPr id="4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257300" y="6250686"/>
            <a:ext cx="7391400" cy="19050"/>
          </a:xfrm>
          <a:prstGeom prst="rect">
            <a:avLst/>
          </a:prstGeom>
        </p:spPr>
      </p:pic>
      <p:pic>
        <p:nvPicPr>
          <p:cNvPr id="4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257300" y="6450711"/>
            <a:ext cx="533400" cy="533400"/>
          </a:xfrm>
          <a:prstGeom prst="rect">
            <a:avLst/>
          </a:prstGeom>
        </p:spPr>
      </p:pic>
      <p:sp>
        <p:nvSpPr>
          <p:cNvPr id="455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20082" y="6477286"/>
            <a:ext cx="242888" cy="485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520" dirty="0">
                <a:solidFill>
                  <a:srgbClr val="FFFFFF">
                    <a:alpha val="100000"/>
                  </a:srgbClr>
                </a:solidFill>
                <a:latin typeface="Public Sans SemiBold" panose="00000700000000000000" pitchFamily="2" charset="0"/>
              </a:rPr>
              <a:t>3</a:t>
            </a:r>
          </a:p>
        </p:txBody>
      </p:sp>
      <p:sp>
        <p:nvSpPr>
          <p:cNvPr id="457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7136511"/>
            <a:ext cx="742473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3300" b="1" spc="-40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Citation transparency</a:t>
            </a:r>
            <a:r>
              <a:rPr lang="en-US" sz="3300" spc="-40" dirty="0">
                <a:solidFill>
                  <a:srgbClr val="FFFFFF"/>
                </a:solidFill>
                <a:latin typeface="Public Sans Medium" panose="00000700000000000000" pitchFamily="2" charset="0"/>
              </a:rPr>
              <a:t>: Answers include source citations with exact page references</a:t>
            </a:r>
          </a:p>
        </p:txBody>
      </p:sp>
      <p:sp>
        <p:nvSpPr>
          <p:cNvPr id="45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06000" y="884110"/>
            <a:ext cx="7653338" cy="1247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872"/>
              </a:lnSpc>
            </a:pPr>
            <a:r>
              <a:rPr lang="en-US" sz="4200" spc="-34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System B — Multimodal RAG Engine</a:t>
            </a:r>
          </a:p>
        </p:txBody>
      </p:sp>
      <p:sp>
        <p:nvSpPr>
          <p:cNvPr id="46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06000" y="2324100"/>
            <a:ext cx="7653338" cy="1323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Answer course PDFs with GPT-4o-mini using text and image inputs, plus cited page references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6B68A38-F659-D354-7266-6BA681AD7478}"/>
              </a:ext>
            </a:extLst>
          </p:cNvPr>
          <p:cNvSpPr/>
          <p:nvPr/>
        </p:nvSpPr>
        <p:spPr>
          <a:xfrm>
            <a:off x="9906000" y="4000881"/>
            <a:ext cx="8016240" cy="5486019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CCD602-04C7-0E2F-A0C3-02CAB2832FF8}"/>
              </a:ext>
            </a:extLst>
          </p:cNvPr>
          <p:cNvSpPr txBox="1"/>
          <p:nvPr/>
        </p:nvSpPr>
        <p:spPr>
          <a:xfrm>
            <a:off x="17559338" y="9433179"/>
            <a:ext cx="64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B" sz="2400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6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4133850"/>
            <a:ext cx="5432375" cy="2466975"/>
          </a:xfrm>
          <a:prstGeom prst="rect">
            <a:avLst/>
          </a:prstGeom>
        </p:spPr>
      </p:pic>
      <p:pic>
        <p:nvPicPr>
          <p:cNvPr id="47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62000" y="4133850"/>
            <a:ext cx="5422702" cy="2444650"/>
          </a:xfrm>
          <a:prstGeom prst="rect">
            <a:avLst/>
          </a:prstGeom>
        </p:spPr>
      </p:pic>
      <p:pic>
        <p:nvPicPr>
          <p:cNvPr id="472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F91735DF-8858-437E-AF99-9BCE8A2A369D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066800" y="4438650"/>
            <a:ext cx="365760" cy="365760"/>
          </a:xfrm>
          <a:prstGeom prst="rect">
            <a:avLst/>
          </a:prstGeom>
        </p:spPr>
      </p:pic>
      <p:sp>
        <p:nvSpPr>
          <p:cNvPr id="474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6800" y="4956810"/>
            <a:ext cx="4862512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Context-aware chat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 with </a:t>
            </a:r>
            <a:r>
              <a:rPr lang="en-US" sz="2700" b="1" spc="19" dirty="0">
                <a:solidFill>
                  <a:srgbClr val="FFFFFF"/>
                </a:solidFill>
                <a:latin typeface="Public Sans" panose="00000700000000000000" pitchFamily="2" charset="0"/>
              </a:rPr>
              <a:t>confidence scoring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 and full conversation history</a:t>
            </a:r>
          </a:p>
        </p:txBody>
      </p:sp>
      <p:pic>
        <p:nvPicPr>
          <p:cNvPr id="47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6426136" y="4133850"/>
            <a:ext cx="5432375" cy="2466975"/>
          </a:xfrm>
          <a:prstGeom prst="rect">
            <a:avLst/>
          </a:prstGeom>
        </p:spPr>
      </p:pic>
      <p:pic>
        <p:nvPicPr>
          <p:cNvPr id="478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6426136" y="4133850"/>
            <a:ext cx="5422702" cy="2444650"/>
          </a:xfrm>
          <a:prstGeom prst="rect">
            <a:avLst/>
          </a:prstGeom>
        </p:spPr>
      </p:pic>
      <p:pic>
        <p:nvPicPr>
          <p:cNvPr id="480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  <a:extLst>
              <a:ext uri="{0B22C5FA-5BE9-40C2-9CEA-77FFA68F5226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6730936" y="4438650"/>
            <a:ext cx="365760" cy="365760"/>
          </a:xfrm>
          <a:prstGeom prst="rect">
            <a:avLst/>
          </a:prstGeom>
        </p:spPr>
      </p:pic>
      <p:sp>
        <p:nvSpPr>
          <p:cNvPr id="482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30936" y="4956810"/>
            <a:ext cx="4862512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Image attachments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: students attach images inline to clarify questions</a:t>
            </a:r>
          </a:p>
        </p:txBody>
      </p:sp>
      <p:pic>
        <p:nvPicPr>
          <p:cNvPr id="4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2090178" y="4133850"/>
            <a:ext cx="5432375" cy="2466975"/>
          </a:xfrm>
          <a:prstGeom prst="rect">
            <a:avLst/>
          </a:prstGeom>
        </p:spPr>
      </p:pic>
      <p:pic>
        <p:nvPicPr>
          <p:cNvPr id="48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2090178" y="4133850"/>
            <a:ext cx="5422702" cy="2444650"/>
          </a:xfrm>
          <a:prstGeom prst="rect">
            <a:avLst/>
          </a:prstGeom>
        </p:spPr>
      </p:pic>
      <p:pic>
        <p:nvPicPr>
          <p:cNvPr id="488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  <a:extLst>
              <a:ext uri="{F6C3354B-AEF4-45A1-9E18-9F03408EA9BD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2394978" y="4438650"/>
            <a:ext cx="365760" cy="365760"/>
          </a:xfrm>
          <a:prstGeom prst="rect">
            <a:avLst/>
          </a:prstGeom>
        </p:spPr>
      </p:pic>
      <p:sp>
        <p:nvSpPr>
          <p:cNvPr id="490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394978" y="4956810"/>
            <a:ext cx="4862512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Export chat history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: download full transcripts for study or review</a:t>
            </a:r>
          </a:p>
        </p:txBody>
      </p:sp>
      <p:pic>
        <p:nvPicPr>
          <p:cNvPr id="49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6819900"/>
            <a:ext cx="5432375" cy="2466975"/>
          </a:xfrm>
          <a:prstGeom prst="rect">
            <a:avLst/>
          </a:prstGeom>
        </p:spPr>
      </p:pic>
      <p:pic>
        <p:nvPicPr>
          <p:cNvPr id="49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62000" y="6819900"/>
            <a:ext cx="5422702" cy="2444650"/>
          </a:xfrm>
          <a:prstGeom prst="rect">
            <a:avLst/>
          </a:prstGeom>
        </p:spPr>
      </p:pic>
      <p:pic>
        <p:nvPicPr>
          <p:cNvPr id="496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/>
            <a:extLst>
              <a:ext uri="{61498FB6-B934-4D85-BDD0-AE3DFE31200E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066800" y="7124700"/>
            <a:ext cx="365760" cy="365760"/>
          </a:xfrm>
          <a:prstGeom prst="rect">
            <a:avLst/>
          </a:prstGeom>
        </p:spPr>
      </p:pic>
      <p:sp>
        <p:nvSpPr>
          <p:cNvPr id="498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6800" y="7642860"/>
            <a:ext cx="4862512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Feedback loop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: in-chat feedback mechanisms to improve answer quality</a:t>
            </a:r>
          </a:p>
        </p:txBody>
      </p:sp>
      <p:pic>
        <p:nvPicPr>
          <p:cNvPr id="5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6426136" y="6819900"/>
            <a:ext cx="5432375" cy="2466975"/>
          </a:xfrm>
          <a:prstGeom prst="rect">
            <a:avLst/>
          </a:prstGeom>
        </p:spPr>
      </p:pic>
      <p:pic>
        <p:nvPicPr>
          <p:cNvPr id="50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6426136" y="6819900"/>
            <a:ext cx="5422702" cy="2444650"/>
          </a:xfrm>
          <a:prstGeom prst="rect">
            <a:avLst/>
          </a:prstGeom>
        </p:spPr>
      </p:pic>
      <p:pic>
        <p:nvPicPr>
          <p:cNvPr id="504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  <a:extLst>
              <a:ext uri="{BE38D2E3-A44B-49BA-9127-EF97858349E5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6730936" y="7124700"/>
            <a:ext cx="365760" cy="365760"/>
          </a:xfrm>
          <a:prstGeom prst="rect">
            <a:avLst/>
          </a:prstGeom>
        </p:spPr>
      </p:pic>
      <p:sp>
        <p:nvSpPr>
          <p:cNvPr id="506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30936" y="7642860"/>
            <a:ext cx="4862512" cy="895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Anonymous </a:t>
            </a:r>
            <a:r>
              <a:rPr lang="en-US" sz="2700" b="1" spc="19" dirty="0">
                <a:solidFill>
                  <a:srgbClr val="FFFFFF"/>
                </a:solidFill>
                <a:latin typeface="Public Sans" panose="00000700000000000000" pitchFamily="2" charset="0"/>
              </a:rPr>
              <a:t>course surveys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 collected via detailed surveys</a:t>
            </a:r>
          </a:p>
        </p:txBody>
      </p:sp>
      <p:pic>
        <p:nvPicPr>
          <p:cNvPr id="50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2090178" y="6819900"/>
            <a:ext cx="5432375" cy="2466975"/>
          </a:xfrm>
          <a:prstGeom prst="rect">
            <a:avLst/>
          </a:prstGeom>
        </p:spPr>
      </p:pic>
      <p:pic>
        <p:nvPicPr>
          <p:cNvPr id="51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2090178" y="6819900"/>
            <a:ext cx="5422702" cy="2444650"/>
          </a:xfrm>
          <a:prstGeom prst="rect">
            <a:avLst/>
          </a:prstGeom>
        </p:spPr>
      </p:pic>
      <p:pic>
        <p:nvPicPr>
          <p:cNvPr id="512" name="iconNode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alphaModFix/>
            <a:extLst>
              <a:ext uri="{24C7D7CF-DE1C-4269-8513-42D78BAAD0FC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2394978" y="7124700"/>
            <a:ext cx="365760" cy="365760"/>
          </a:xfrm>
          <a:prstGeom prst="rect">
            <a:avLst/>
          </a:prstGeom>
        </p:spPr>
      </p:pic>
      <p:sp>
        <p:nvSpPr>
          <p:cNvPr id="514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394978" y="7642860"/>
            <a:ext cx="4862512" cy="1323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Summary: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 Seamless chat + attachments + export + feedback for continuous improvement</a:t>
            </a:r>
          </a:p>
        </p:txBody>
      </p:sp>
      <p:sp>
        <p:nvSpPr>
          <p:cNvPr id="51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885539"/>
            <a:ext cx="15806738" cy="1552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6288"/>
              </a:lnSpc>
            </a:pPr>
            <a:r>
              <a:rPr lang="en-US" sz="4800" spc="-53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Chat, Feedback &amp; Export — Streamlined Student Experience</a:t>
            </a:r>
          </a:p>
        </p:txBody>
      </p:sp>
      <p:sp>
        <p:nvSpPr>
          <p:cNvPr id="51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2552700"/>
            <a:ext cx="15806738" cy="8858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Context-aware chat with confidence scores, full history, image attachments, exportable transcripts, and anonymous course surveys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2552700"/>
            <a:ext cx="5895975" cy="3714750"/>
          </a:xfrm>
          <a:prstGeom prst="rect">
            <a:avLst/>
          </a:prstGeom>
        </p:spPr>
      </p:pic>
      <p:pic>
        <p:nvPicPr>
          <p:cNvPr id="629" name="image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0" y="2552700"/>
            <a:ext cx="5895975" cy="3714750"/>
          </a:xfrm>
          <a:prstGeom prst="rect">
            <a:avLst/>
          </a:prstGeom>
        </p:spPr>
      </p:pic>
      <p:sp>
        <p:nvSpPr>
          <p:cNvPr id="633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3949065"/>
            <a:ext cx="5167312" cy="933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3000" spc="-36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Allow </a:t>
            </a:r>
            <a:r>
              <a:rPr lang="en-US" sz="3000" b="1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text, image, or mixed</a:t>
            </a:r>
            <a:r>
              <a:rPr lang="en-US" sz="3000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 questions on course PDFs</a:t>
            </a:r>
          </a:p>
        </p:txBody>
      </p:sp>
      <p:pic>
        <p:nvPicPr>
          <p:cNvPr id="6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6197500" y="2552700"/>
            <a:ext cx="5895975" cy="3714750"/>
          </a:xfrm>
          <a:prstGeom prst="rect">
            <a:avLst/>
          </a:prstGeom>
        </p:spPr>
      </p:pic>
      <p:pic>
        <p:nvPicPr>
          <p:cNvPr id="637" name="image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6197632" y="2552700"/>
            <a:ext cx="5895975" cy="3714750"/>
          </a:xfrm>
          <a:prstGeom prst="rect">
            <a:avLst/>
          </a:prstGeom>
        </p:spPr>
      </p:pic>
      <p:pic>
        <p:nvPicPr>
          <p:cNvPr id="6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65000"/>
          </a:blip>
          <a:stretch/>
        </p:blipFill>
        <p:spPr>
          <a:xfrm>
            <a:off x="6197632" y="2552700"/>
            <a:ext cx="5895975" cy="3714750"/>
          </a:xfrm>
          <a:prstGeom prst="rect">
            <a:avLst/>
          </a:prstGeom>
        </p:spPr>
      </p:pic>
      <p:sp>
        <p:nvSpPr>
          <p:cNvPr id="641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78632" y="3718655"/>
            <a:ext cx="5167312" cy="1390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3000" b="1" spc="-36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GPT-powered</a:t>
            </a:r>
            <a:r>
              <a:rPr lang="en-US" sz="3000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 contextual answers with </a:t>
            </a:r>
            <a:r>
              <a:rPr lang="en-US" sz="3000" b="1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PDF page citations</a:t>
            </a:r>
          </a:p>
        </p:txBody>
      </p:sp>
      <p:pic>
        <p:nvPicPr>
          <p:cNvPr id="6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tretch/>
        </p:blipFill>
        <p:spPr>
          <a:xfrm>
            <a:off x="12395149" y="2552700"/>
            <a:ext cx="5892850" cy="3714750"/>
          </a:xfrm>
          <a:prstGeom prst="rect">
            <a:avLst/>
          </a:prstGeom>
        </p:spPr>
      </p:pic>
      <p:pic>
        <p:nvPicPr>
          <p:cNvPr id="645" name="image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395149" y="2552700"/>
            <a:ext cx="5892850" cy="3714750"/>
          </a:xfrm>
          <a:prstGeom prst="rect">
            <a:avLst/>
          </a:prstGeom>
        </p:spPr>
      </p:pic>
      <p:pic>
        <p:nvPicPr>
          <p:cNvPr id="64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65000"/>
          </a:blip>
          <a:stretch/>
        </p:blipFill>
        <p:spPr>
          <a:xfrm>
            <a:off x="12395168" y="2552700"/>
            <a:ext cx="5895975" cy="3714750"/>
          </a:xfrm>
          <a:prstGeom prst="rect">
            <a:avLst/>
          </a:prstGeom>
        </p:spPr>
      </p:pic>
      <p:sp>
        <p:nvSpPr>
          <p:cNvPr id="649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776168" y="3949065"/>
            <a:ext cx="5167312" cy="933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3000" spc="-36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Display </a:t>
            </a:r>
            <a:r>
              <a:rPr lang="en-US" sz="3000" b="1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confidence scores</a:t>
            </a:r>
            <a:r>
              <a:rPr lang="en-US" sz="3000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 to indicate answer reliability</a:t>
            </a:r>
          </a:p>
        </p:txBody>
      </p:sp>
      <p:pic>
        <p:nvPicPr>
          <p:cNvPr id="6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</a:blip>
          <a:stretch/>
        </p:blipFill>
        <p:spPr>
          <a:xfrm>
            <a:off x="0" y="6572250"/>
            <a:ext cx="5895975" cy="3714750"/>
          </a:xfrm>
          <a:prstGeom prst="rect">
            <a:avLst/>
          </a:prstGeom>
        </p:spPr>
      </p:pic>
      <p:pic>
        <p:nvPicPr>
          <p:cNvPr id="653" name="image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1">
            <a:alphaModFix/>
          </a:blip>
          <a:stretch/>
        </p:blipFill>
        <p:spPr>
          <a:xfrm>
            <a:off x="0" y="6572250"/>
            <a:ext cx="5895975" cy="3714750"/>
          </a:xfrm>
          <a:prstGeom prst="rect">
            <a:avLst/>
          </a:prstGeom>
        </p:spPr>
      </p:pic>
      <p:pic>
        <p:nvPicPr>
          <p:cNvPr id="6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65000"/>
          </a:blip>
          <a:stretch/>
        </p:blipFill>
        <p:spPr>
          <a:xfrm>
            <a:off x="0" y="6572250"/>
            <a:ext cx="5895975" cy="3714750"/>
          </a:xfrm>
          <a:prstGeom prst="rect">
            <a:avLst/>
          </a:prstGeom>
        </p:spPr>
      </p:pic>
      <p:sp>
        <p:nvSpPr>
          <p:cNvPr id="657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7738205"/>
            <a:ext cx="5167312" cy="1390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3000" spc="-36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Multimodal support clarifies complex </a:t>
            </a:r>
            <a:r>
              <a:rPr lang="en-US" sz="3000" b="1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diagrams and content</a:t>
            </a:r>
          </a:p>
        </p:txBody>
      </p:sp>
      <p:pic>
        <p:nvPicPr>
          <p:cNvPr id="65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/>
          </a:blip>
          <a:stretch/>
        </p:blipFill>
        <p:spPr>
          <a:xfrm>
            <a:off x="6197500" y="6572250"/>
            <a:ext cx="12087225" cy="3714750"/>
          </a:xfrm>
          <a:prstGeom prst="rect">
            <a:avLst/>
          </a:prstGeom>
        </p:spPr>
      </p:pic>
      <p:pic>
        <p:nvPicPr>
          <p:cNvPr id="661" name="image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6197632" y="6572250"/>
            <a:ext cx="12087225" cy="3714750"/>
          </a:xfrm>
          <a:prstGeom prst="rect">
            <a:avLst/>
          </a:prstGeom>
        </p:spPr>
      </p:pic>
      <p:pic>
        <p:nvPicPr>
          <p:cNvPr id="6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 amt="65000"/>
          </a:blip>
          <a:stretch/>
        </p:blipFill>
        <p:spPr>
          <a:xfrm>
            <a:off x="6197500" y="6572250"/>
            <a:ext cx="12087225" cy="3714750"/>
          </a:xfrm>
          <a:prstGeom prst="rect">
            <a:avLst/>
          </a:prstGeom>
        </p:spPr>
      </p:pic>
      <p:sp>
        <p:nvSpPr>
          <p:cNvPr id="665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275606" y="8199120"/>
            <a:ext cx="7967662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3000" spc="-36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Improves comprehension and study efficiency</a:t>
            </a:r>
          </a:p>
        </p:txBody>
      </p:sp>
      <p:sp>
        <p:nvSpPr>
          <p:cNvPr id="66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876300"/>
            <a:ext cx="15806738" cy="628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4872"/>
              </a:lnSpc>
            </a:pPr>
            <a:r>
              <a:rPr lang="en-US" sz="4200" spc="-34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Student Features: RAG Q&amp;A System</a:t>
            </a:r>
          </a:p>
        </p:txBody>
      </p:sp>
      <p:sp>
        <p:nvSpPr>
          <p:cNvPr id="66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1600200"/>
            <a:ext cx="15806738" cy="5048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870"/>
              </a:lnSpc>
            </a:pPr>
            <a:r>
              <a:rPr lang="en-US" sz="3000" spc="21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Multimodal questions, GPT answers with page citations, and confidence scoring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7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7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3600450"/>
            <a:ext cx="3962400" cy="5372100"/>
          </a:xfrm>
          <a:prstGeom prst="rect">
            <a:avLst/>
          </a:prstGeom>
        </p:spPr>
      </p:pic>
      <p:sp>
        <p:nvSpPr>
          <p:cNvPr id="678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6800" y="4248150"/>
            <a:ext cx="3386138" cy="4429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 b="1" spc="21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Feedback form fields:</a:t>
            </a:r>
            <a:r>
              <a:rPr lang="en-US" sz="3000" spc="21" dirty="0">
                <a:solidFill>
                  <a:srgbClr val="FFFFFF"/>
                </a:solidFill>
                <a:latin typeface="Public Sans" panose="00000700000000000000" pitchFamily="2" charset="0"/>
              </a:rPr>
              <a:t> multi-question ratings for overall experience and system helpfulness, plus open comments and suggestions</a:t>
            </a:r>
          </a:p>
        </p:txBody>
      </p:sp>
      <p:pic>
        <p:nvPicPr>
          <p:cNvPr id="6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5029200" y="3600450"/>
            <a:ext cx="3962400" cy="5372100"/>
          </a:xfrm>
          <a:prstGeom prst="rect">
            <a:avLst/>
          </a:prstGeom>
        </p:spPr>
      </p:pic>
      <p:sp>
        <p:nvSpPr>
          <p:cNvPr id="682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334000" y="4248150"/>
            <a:ext cx="3386138" cy="2962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 b="1" spc="21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Anonymity:</a:t>
            </a:r>
            <a:r>
              <a:rPr lang="en-US" sz="3000" spc="21" dirty="0">
                <a:solidFill>
                  <a:srgbClr val="FFFFFF"/>
                </a:solidFill>
                <a:latin typeface="Public Sans" panose="00000700000000000000" pitchFamily="2" charset="0"/>
              </a:rPr>
              <a:t> student submissions are anonymous to encourage honest feedback</a:t>
            </a:r>
          </a:p>
        </p:txBody>
      </p:sp>
      <p:pic>
        <p:nvPicPr>
          <p:cNvPr id="6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9296400" y="3600450"/>
            <a:ext cx="3962400" cy="5372100"/>
          </a:xfrm>
          <a:prstGeom prst="rect">
            <a:avLst/>
          </a:prstGeom>
        </p:spPr>
      </p:pic>
      <p:sp>
        <p:nvSpPr>
          <p:cNvPr id="686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01200" y="4248150"/>
            <a:ext cx="3386138" cy="3448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 b="1" spc="21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Data storage:</a:t>
            </a:r>
            <a:r>
              <a:rPr lang="en-US" sz="3000" spc="21" dirty="0">
                <a:solidFill>
                  <a:srgbClr val="FFFFFF"/>
                </a:solidFill>
                <a:latin typeface="Public Sans" panose="00000700000000000000" pitchFamily="2" charset="0"/>
              </a:rPr>
              <a:t> responses tracked and exported in </a:t>
            </a:r>
            <a:r>
              <a:rPr lang="en-US" sz="3000" b="1" spc="21" dirty="0">
                <a:solidFill>
                  <a:srgbClr val="FFFFFF"/>
                </a:solidFill>
                <a:latin typeface="Public Sans" panose="00000700000000000000" pitchFamily="2" charset="0"/>
              </a:rPr>
              <a:t>CSV</a:t>
            </a:r>
            <a:r>
              <a:rPr lang="en-US" sz="3000" spc="21" dirty="0">
                <a:solidFill>
                  <a:srgbClr val="FFFFFF"/>
                </a:solidFill>
                <a:latin typeface="Public Sans" panose="00000700000000000000" pitchFamily="2" charset="0"/>
              </a:rPr>
              <a:t> format for analysis and timely improvements</a:t>
            </a:r>
          </a:p>
        </p:txBody>
      </p:sp>
      <p:pic>
        <p:nvPicPr>
          <p:cNvPr id="68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13563600" y="3600450"/>
            <a:ext cx="3962400" cy="5372100"/>
          </a:xfrm>
          <a:prstGeom prst="rect">
            <a:avLst/>
          </a:prstGeom>
        </p:spPr>
      </p:pic>
      <p:sp>
        <p:nvSpPr>
          <p:cNvPr id="690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868400" y="4248150"/>
            <a:ext cx="3386138" cy="2962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 b="1" spc="21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Purpose:</a:t>
            </a:r>
            <a:r>
              <a:rPr lang="en-US" sz="3000" spc="21" dirty="0">
                <a:solidFill>
                  <a:srgbClr val="FFFFFF"/>
                </a:solidFill>
                <a:latin typeface="Public Sans" panose="00000700000000000000" pitchFamily="2" charset="0"/>
              </a:rPr>
              <a:t> inform course improvements and system enhancements quickly</a:t>
            </a:r>
          </a:p>
        </p:txBody>
      </p:sp>
      <p:sp>
        <p:nvSpPr>
          <p:cNvPr id="692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879920"/>
            <a:ext cx="158067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sz="4800" spc="-38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Student Feedback: Anonymous Forms + CSV Tracking</a:t>
            </a:r>
          </a:p>
        </p:txBody>
      </p:sp>
      <p:sp>
        <p:nvSpPr>
          <p:cNvPr id="694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1714500"/>
            <a:ext cx="15806738" cy="8858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Multi-question ratings, open comments, and system-helpfulness data to drive timely course improvements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3124200"/>
            <a:ext cx="8289875" cy="1571625"/>
          </a:xfrm>
          <a:prstGeom prst="rect">
            <a:avLst/>
          </a:prstGeom>
        </p:spPr>
      </p:pic>
      <p:pic>
        <p:nvPicPr>
          <p:cNvPr id="70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62000" y="3124200"/>
            <a:ext cx="8273950" cy="1549300"/>
          </a:xfrm>
          <a:prstGeom prst="rect">
            <a:avLst/>
          </a:prstGeom>
        </p:spPr>
      </p:pic>
      <p:pic>
        <p:nvPicPr>
          <p:cNvPr id="7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1066800" y="3571875"/>
            <a:ext cx="190500" cy="209550"/>
          </a:xfrm>
          <a:prstGeom prst="rect">
            <a:avLst/>
          </a:prstGeom>
        </p:spPr>
      </p:pic>
      <p:sp>
        <p:nvSpPr>
          <p:cNvPr id="707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09700" y="3429000"/>
            <a:ext cx="7367588" cy="962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 spc="21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Add lectures via </a:t>
            </a:r>
            <a:r>
              <a:rPr lang="en-US" sz="3000" b="1" spc="21" dirty="0">
                <a:solidFill>
                  <a:srgbClr val="FFFFFF"/>
                </a:solidFill>
                <a:latin typeface="Public Sans" panose="00000700000000000000" pitchFamily="2" charset="0"/>
              </a:rPr>
              <a:t>YouTube URL</a:t>
            </a:r>
            <a:r>
              <a:rPr lang="en-US" sz="3000" spc="21" dirty="0">
                <a:solidFill>
                  <a:srgbClr val="FFFFFF"/>
                </a:solidFill>
                <a:latin typeface="Public Sans" panose="00000700000000000000" pitchFamily="2" charset="0"/>
              </a:rPr>
              <a:t> with automatic </a:t>
            </a:r>
            <a:r>
              <a:rPr lang="en-US" sz="3000" b="1" spc="21" dirty="0">
                <a:solidFill>
                  <a:srgbClr val="FFFFFF"/>
                </a:solidFill>
                <a:latin typeface="Public Sans" panose="00000700000000000000" pitchFamily="2" charset="0"/>
              </a:rPr>
              <a:t>transcription</a:t>
            </a:r>
          </a:p>
        </p:txBody>
      </p:sp>
      <p:pic>
        <p:nvPicPr>
          <p:cNvPr id="7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4876800"/>
            <a:ext cx="8289875" cy="1571625"/>
          </a:xfrm>
          <a:prstGeom prst="rect">
            <a:avLst/>
          </a:prstGeom>
        </p:spPr>
      </p:pic>
      <p:pic>
        <p:nvPicPr>
          <p:cNvPr id="71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62000" y="4876800"/>
            <a:ext cx="8273950" cy="1549300"/>
          </a:xfrm>
          <a:prstGeom prst="rect">
            <a:avLst/>
          </a:prstGeom>
        </p:spPr>
      </p:pic>
      <p:pic>
        <p:nvPicPr>
          <p:cNvPr id="7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1066800" y="5324475"/>
            <a:ext cx="190500" cy="209550"/>
          </a:xfrm>
          <a:prstGeom prst="rect">
            <a:avLst/>
          </a:prstGeom>
        </p:spPr>
      </p:pic>
      <p:sp>
        <p:nvSpPr>
          <p:cNvPr id="71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09700" y="5181600"/>
            <a:ext cx="7367588" cy="962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 spc="21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Edit </a:t>
            </a:r>
            <a:r>
              <a:rPr lang="en-US" sz="3000" b="1" spc="21" dirty="0">
                <a:solidFill>
                  <a:srgbClr val="FFFFFF"/>
                </a:solidFill>
                <a:latin typeface="Public Sans" panose="00000700000000000000" pitchFamily="2" charset="0"/>
              </a:rPr>
              <a:t>metadata</a:t>
            </a:r>
            <a:r>
              <a:rPr lang="en-US" sz="3000" spc="21" dirty="0">
                <a:solidFill>
                  <a:srgbClr val="FFFFFF"/>
                </a:solidFill>
                <a:latin typeface="Public Sans" panose="00000700000000000000" pitchFamily="2" charset="0"/>
              </a:rPr>
              <a:t>: title, description, and thumbnails for quick ID</a:t>
            </a:r>
          </a:p>
        </p:txBody>
      </p:sp>
      <p:pic>
        <p:nvPicPr>
          <p:cNvPr id="7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6629400"/>
            <a:ext cx="8289875" cy="1571625"/>
          </a:xfrm>
          <a:prstGeom prst="rect">
            <a:avLst/>
          </a:prstGeom>
        </p:spPr>
      </p:pic>
      <p:pic>
        <p:nvPicPr>
          <p:cNvPr id="71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62000" y="6629400"/>
            <a:ext cx="8273950" cy="1549300"/>
          </a:xfrm>
          <a:prstGeom prst="rect">
            <a:avLst/>
          </a:prstGeom>
        </p:spPr>
      </p:pic>
      <p:pic>
        <p:nvPicPr>
          <p:cNvPr id="7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1066800" y="7077075"/>
            <a:ext cx="190500" cy="209550"/>
          </a:xfrm>
          <a:prstGeom prst="rect">
            <a:avLst/>
          </a:prstGeom>
        </p:spPr>
      </p:pic>
      <p:sp>
        <p:nvSpPr>
          <p:cNvPr id="723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09700" y="6934200"/>
            <a:ext cx="7367588" cy="962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 spc="21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Delete obsolete lectures safely with confirmation</a:t>
            </a:r>
          </a:p>
        </p:txBody>
      </p:sp>
      <p:pic>
        <p:nvPicPr>
          <p:cNvPr id="7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9239250" y="3124200"/>
            <a:ext cx="8289875" cy="1571625"/>
          </a:xfrm>
          <a:prstGeom prst="rect">
            <a:avLst/>
          </a:prstGeom>
        </p:spPr>
      </p:pic>
      <p:pic>
        <p:nvPicPr>
          <p:cNvPr id="72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9239250" y="3124200"/>
            <a:ext cx="8273950" cy="1549300"/>
          </a:xfrm>
          <a:prstGeom prst="rect">
            <a:avLst/>
          </a:prstGeom>
        </p:spPr>
      </p:pic>
      <p:pic>
        <p:nvPicPr>
          <p:cNvPr id="7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9544050" y="3571875"/>
            <a:ext cx="190500" cy="209550"/>
          </a:xfrm>
          <a:prstGeom prst="rect">
            <a:avLst/>
          </a:prstGeom>
        </p:spPr>
      </p:pic>
      <p:sp>
        <p:nvSpPr>
          <p:cNvPr id="731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86950" y="3429000"/>
            <a:ext cx="7367588" cy="962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 spc="21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Perform </a:t>
            </a:r>
            <a:r>
              <a:rPr lang="en-US" sz="3000" b="1" spc="21" dirty="0">
                <a:solidFill>
                  <a:srgbClr val="FFFFFF"/>
                </a:solidFill>
                <a:latin typeface="Public Sans" panose="00000700000000000000" pitchFamily="2" charset="0"/>
              </a:rPr>
              <a:t>bulk operations</a:t>
            </a:r>
            <a:r>
              <a:rPr lang="en-US" sz="3000" spc="21" dirty="0">
                <a:solidFill>
                  <a:srgbClr val="FFFFFF"/>
                </a:solidFill>
                <a:latin typeface="Public Sans" panose="00000700000000000000" pitchFamily="2" charset="0"/>
              </a:rPr>
              <a:t>: multi-select edit, move, or delete</a:t>
            </a:r>
          </a:p>
        </p:txBody>
      </p:sp>
      <p:pic>
        <p:nvPicPr>
          <p:cNvPr id="7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9239250" y="4876800"/>
            <a:ext cx="8289875" cy="1571625"/>
          </a:xfrm>
          <a:prstGeom prst="rect">
            <a:avLst/>
          </a:prstGeom>
        </p:spPr>
      </p:pic>
      <p:pic>
        <p:nvPicPr>
          <p:cNvPr id="73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9239250" y="4876800"/>
            <a:ext cx="8273950" cy="1549300"/>
          </a:xfrm>
          <a:prstGeom prst="rect">
            <a:avLst/>
          </a:prstGeom>
        </p:spPr>
      </p:pic>
      <p:pic>
        <p:nvPicPr>
          <p:cNvPr id="7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9544050" y="5324475"/>
            <a:ext cx="190500" cy="209550"/>
          </a:xfrm>
          <a:prstGeom prst="rect">
            <a:avLst/>
          </a:prstGeom>
        </p:spPr>
      </p:pic>
      <p:sp>
        <p:nvSpPr>
          <p:cNvPr id="739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86950" y="5181600"/>
            <a:ext cx="7367588" cy="962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 spc="21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Categorize by </a:t>
            </a:r>
            <a:r>
              <a:rPr lang="en-US" sz="3000" b="1" spc="21" dirty="0">
                <a:solidFill>
                  <a:srgbClr val="FFFFFF"/>
                </a:solidFill>
                <a:latin typeface="Public Sans" panose="00000700000000000000" pitchFamily="2" charset="0"/>
              </a:rPr>
              <a:t>topics</a:t>
            </a:r>
            <a:r>
              <a:rPr lang="en-US" sz="3000" spc="21" dirty="0">
                <a:solidFill>
                  <a:srgbClr val="FFFFFF"/>
                </a:solidFill>
                <a:latin typeface="Public Sans" panose="00000700000000000000" pitchFamily="2" charset="0"/>
              </a:rPr>
              <a:t> or </a:t>
            </a:r>
            <a:r>
              <a:rPr lang="en-US" sz="3000" b="1" spc="21" dirty="0">
                <a:solidFill>
                  <a:srgbClr val="FFFFFF"/>
                </a:solidFill>
                <a:latin typeface="Public Sans" panose="00000700000000000000" pitchFamily="2" charset="0"/>
              </a:rPr>
              <a:t>weeks</a:t>
            </a:r>
            <a:r>
              <a:rPr lang="en-US" sz="3000" spc="21" dirty="0">
                <a:solidFill>
                  <a:srgbClr val="FFFFFF"/>
                </a:solidFill>
                <a:latin typeface="Public Sans" panose="00000700000000000000" pitchFamily="2" charset="0"/>
              </a:rPr>
              <a:t> for organized navigation</a:t>
            </a:r>
          </a:p>
        </p:txBody>
      </p:sp>
      <p:pic>
        <p:nvPicPr>
          <p:cNvPr id="7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9239250" y="6629400"/>
            <a:ext cx="8289875" cy="1571625"/>
          </a:xfrm>
          <a:prstGeom prst="rect">
            <a:avLst/>
          </a:prstGeom>
        </p:spPr>
      </p:pic>
      <p:pic>
        <p:nvPicPr>
          <p:cNvPr id="74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9239250" y="6629400"/>
            <a:ext cx="8273950" cy="1549300"/>
          </a:xfrm>
          <a:prstGeom prst="rect">
            <a:avLst/>
          </a:prstGeom>
        </p:spPr>
      </p:pic>
      <p:pic>
        <p:nvPicPr>
          <p:cNvPr id="7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9544050" y="7077075"/>
            <a:ext cx="190500" cy="209550"/>
          </a:xfrm>
          <a:prstGeom prst="rect">
            <a:avLst/>
          </a:prstGeom>
        </p:spPr>
      </p:pic>
      <p:sp>
        <p:nvSpPr>
          <p:cNvPr id="747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86950" y="6934200"/>
            <a:ext cx="7367588" cy="962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 spc="21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Visual </a:t>
            </a:r>
            <a:r>
              <a:rPr lang="en-US" sz="3000" b="1" spc="21" dirty="0">
                <a:solidFill>
                  <a:srgbClr val="FFFFFF"/>
                </a:solidFill>
                <a:latin typeface="Public Sans" panose="00000700000000000000" pitchFamily="2" charset="0"/>
              </a:rPr>
              <a:t>thumbnails</a:t>
            </a:r>
            <a:r>
              <a:rPr lang="en-US" sz="3000" spc="21" dirty="0">
                <a:solidFill>
                  <a:srgbClr val="FFFFFF"/>
                </a:solidFill>
                <a:latin typeface="Public Sans" panose="00000700000000000000" pitchFamily="2" charset="0"/>
              </a:rPr>
              <a:t> assist fast identification</a:t>
            </a:r>
          </a:p>
        </p:txBody>
      </p:sp>
      <p:sp>
        <p:nvSpPr>
          <p:cNvPr id="74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879920"/>
            <a:ext cx="158067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sz="4800" spc="-38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Manage YouTube Lectures: Upload, Edit, Organize</a:t>
            </a:r>
          </a:p>
        </p:txBody>
      </p:sp>
      <p:sp>
        <p:nvSpPr>
          <p:cNvPr id="75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1714500"/>
            <a:ext cx="15806738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870"/>
              </a:lnSpc>
            </a:pPr>
            <a:r>
              <a:rPr lang="en-US" sz="3000" spc="21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Streamline lecture CRUD, metadata, transcription and bulk operations for course content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-1" y="-157655"/>
            <a:ext cx="18445655" cy="10854559"/>
          </a:xfrm>
          <a:prstGeom prst="rect">
            <a:avLst/>
          </a:prstGeom>
        </p:spPr>
      </p:pic>
      <p:pic>
        <p:nvPicPr>
          <p:cNvPr id="758" name="f2b5f7b9-119a-4c8a-940d-ba54c445798c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762000" y="762000"/>
            <a:ext cx="4686300" cy="8763000"/>
          </a:xfrm>
          <a:prstGeom prst="rect">
            <a:avLst/>
          </a:prstGeom>
        </p:spPr>
      </p:pic>
      <p:sp>
        <p:nvSpPr>
          <p:cNvPr id="822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48400" y="211685"/>
            <a:ext cx="11310938" cy="1781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6000" spc="-48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Instructor Analytics Dashboard (RAG)</a:t>
            </a:r>
          </a:p>
        </p:txBody>
      </p:sp>
      <p:sp>
        <p:nvSpPr>
          <p:cNvPr id="824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23847" y="2220393"/>
            <a:ext cx="11310938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spc="17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Actionable insights on Q&amp;A, confidence, engagement, and feedback to prioritize review</a:t>
            </a: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EBDB1E80-04DE-31A1-3299-92B5C7261F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302" y="3200401"/>
            <a:ext cx="11966029" cy="70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4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876300"/>
            <a:ext cx="1580673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6264"/>
              </a:lnSpc>
            </a:pPr>
            <a:r>
              <a:rPr lang="en-US" sz="5400" spc="-43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Instructor Analytics: YouTube Dashboard</a:t>
            </a:r>
            <a:endParaRPr lang="en-US" sz="5400" spc="-43" dirty="0">
              <a:solidFill>
                <a:srgbClr val="FFFFFF">
                  <a:alpha val="100000"/>
                </a:srgbClr>
              </a:solidFill>
              <a:latin typeface="Public Sans Medium" panose="00000700000000000000" pitchFamily="2" charset="0"/>
            </a:endParaRPr>
          </a:p>
        </p:txBody>
      </p:sp>
      <p:sp>
        <p:nvSpPr>
          <p:cNvPr id="85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1790700"/>
            <a:ext cx="15806738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870"/>
              </a:lnSpc>
            </a:pPr>
            <a:r>
              <a:rPr lang="en-US" sz="3000" spc="21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Query logs, lecture popularity, confusion topics, engagement timeline — exportable for offline analysis</a:t>
            </a:r>
            <a:endParaRPr lang="en-US" sz="3000" spc="21" dirty="0">
              <a:solidFill>
                <a:srgbClr val="B8B8B8">
                  <a:alpha val="100000"/>
                </a:srgbClr>
              </a:solidFill>
              <a:latin typeface="Public Sans" panose="00000700000000000000" pitchFamily="2" charset="0"/>
            </a:endParaRPr>
          </a:p>
        </p:txBody>
      </p:sp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091C10D4-9406-363D-E4EE-8689045AB2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104" y="2867025"/>
            <a:ext cx="11285096" cy="638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8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8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2514600"/>
            <a:ext cx="5432375" cy="3400425"/>
          </a:xfrm>
          <a:prstGeom prst="rect">
            <a:avLst/>
          </a:prstGeom>
        </p:spPr>
      </p:pic>
      <p:pic>
        <p:nvPicPr>
          <p:cNvPr id="86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62000" y="2514600"/>
            <a:ext cx="5422702" cy="3378100"/>
          </a:xfrm>
          <a:prstGeom prst="rect">
            <a:avLst/>
          </a:prstGeom>
        </p:spPr>
      </p:pic>
      <p:pic>
        <p:nvPicPr>
          <p:cNvPr id="862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9F48DA92-A02C-4BD8-97C1-1D82FF82B281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5588032" y="4057650"/>
            <a:ext cx="304705" cy="304705"/>
          </a:xfrm>
          <a:prstGeom prst="rect">
            <a:avLst/>
          </a:prstGeom>
        </p:spPr>
      </p:pic>
      <p:sp>
        <p:nvSpPr>
          <p:cNvPr id="864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6800" y="3325368"/>
            <a:ext cx="4405312" cy="1781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Upload &amp; store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 course PDFs for RAG workflows; supports viewing, downloading, and deletion</a:t>
            </a:r>
          </a:p>
        </p:txBody>
      </p:sp>
      <p:pic>
        <p:nvPicPr>
          <p:cNvPr id="8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6426136" y="2514600"/>
            <a:ext cx="5432375" cy="3400425"/>
          </a:xfrm>
          <a:prstGeom prst="rect">
            <a:avLst/>
          </a:prstGeom>
        </p:spPr>
      </p:pic>
      <p:pic>
        <p:nvPicPr>
          <p:cNvPr id="868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6426136" y="2514600"/>
            <a:ext cx="5422702" cy="3378100"/>
          </a:xfrm>
          <a:prstGeom prst="rect">
            <a:avLst/>
          </a:prstGeom>
        </p:spPr>
      </p:pic>
      <p:pic>
        <p:nvPicPr>
          <p:cNvPr id="870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  <a:extLst>
              <a:ext uri="{58D56C09-62DC-4D01-8059-DE8F827279D6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1252073" y="4057650"/>
            <a:ext cx="304705" cy="304705"/>
          </a:xfrm>
          <a:prstGeom prst="rect">
            <a:avLst/>
          </a:prstGeom>
        </p:spPr>
      </p:pic>
      <p:sp>
        <p:nvSpPr>
          <p:cNvPr id="872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30936" y="3325368"/>
            <a:ext cx="4405312" cy="1781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Access controls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 and easy viewing/downloading to ensure instructor and student access</a:t>
            </a:r>
          </a:p>
        </p:txBody>
      </p:sp>
      <p:pic>
        <p:nvPicPr>
          <p:cNvPr id="87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2090178" y="2514600"/>
            <a:ext cx="5432375" cy="3400425"/>
          </a:xfrm>
          <a:prstGeom prst="rect">
            <a:avLst/>
          </a:prstGeom>
        </p:spPr>
      </p:pic>
      <p:pic>
        <p:nvPicPr>
          <p:cNvPr id="87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2090178" y="2514600"/>
            <a:ext cx="5422702" cy="3378100"/>
          </a:xfrm>
          <a:prstGeom prst="rect">
            <a:avLst/>
          </a:prstGeom>
        </p:spPr>
      </p:pic>
      <p:pic>
        <p:nvPicPr>
          <p:cNvPr id="878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  <a:extLst>
              <a:ext uri="{1BB444E3-42B4-4EF4-87A2-0882C506F425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6916210" y="4057650"/>
            <a:ext cx="304705" cy="304705"/>
          </a:xfrm>
          <a:prstGeom prst="rect">
            <a:avLst/>
          </a:prstGeom>
        </p:spPr>
      </p:pic>
      <p:sp>
        <p:nvSpPr>
          <p:cNvPr id="880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394978" y="3546538"/>
            <a:ext cx="4405312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Metadata tracking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: upload date, file size, access counts, indexing status</a:t>
            </a:r>
          </a:p>
        </p:txBody>
      </p:sp>
      <p:pic>
        <p:nvPicPr>
          <p:cNvPr id="8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6134100"/>
            <a:ext cx="5432375" cy="3400425"/>
          </a:xfrm>
          <a:prstGeom prst="rect">
            <a:avLst/>
          </a:prstGeom>
        </p:spPr>
      </p:pic>
      <p:pic>
        <p:nvPicPr>
          <p:cNvPr id="88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62000" y="6134100"/>
            <a:ext cx="5422702" cy="3378100"/>
          </a:xfrm>
          <a:prstGeom prst="rect">
            <a:avLst/>
          </a:prstGeom>
        </p:spPr>
      </p:pic>
      <p:pic>
        <p:nvPicPr>
          <p:cNvPr id="886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/>
            <a:extLst>
              <a:ext uri="{2B82F021-7032-4DFD-A88E-7448F72DEB3F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5588032" y="7677150"/>
            <a:ext cx="304705" cy="304705"/>
          </a:xfrm>
          <a:prstGeom prst="rect">
            <a:avLst/>
          </a:prstGeom>
        </p:spPr>
      </p:pic>
      <p:sp>
        <p:nvSpPr>
          <p:cNvPr id="888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6800" y="7166038"/>
            <a:ext cx="4405312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Indexing status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 visible to confirm PDFs are included in RAG search/index</a:t>
            </a:r>
          </a:p>
        </p:txBody>
      </p:sp>
      <p:pic>
        <p:nvPicPr>
          <p:cNvPr id="8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6426136" y="6134100"/>
            <a:ext cx="5432375" cy="3400425"/>
          </a:xfrm>
          <a:prstGeom prst="rect">
            <a:avLst/>
          </a:prstGeom>
        </p:spPr>
      </p:pic>
      <p:pic>
        <p:nvPicPr>
          <p:cNvPr id="89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6426136" y="6134100"/>
            <a:ext cx="5422702" cy="3378100"/>
          </a:xfrm>
          <a:prstGeom prst="rect">
            <a:avLst/>
          </a:prstGeom>
        </p:spPr>
      </p:pic>
      <p:pic>
        <p:nvPicPr>
          <p:cNvPr id="894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  <a:extLst>
              <a:ext uri="{06BB5947-5C6B-4BE8-A9C3-29567D399A78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1252073" y="7677150"/>
            <a:ext cx="304705" cy="304705"/>
          </a:xfrm>
          <a:prstGeom prst="rect">
            <a:avLst/>
          </a:prstGeom>
        </p:spPr>
      </p:pic>
      <p:sp>
        <p:nvSpPr>
          <p:cNvPr id="896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30936" y="7166038"/>
            <a:ext cx="4405312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Auditability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 via access counts and timestamps to keep content accurate</a:t>
            </a:r>
          </a:p>
        </p:txBody>
      </p:sp>
      <p:pic>
        <p:nvPicPr>
          <p:cNvPr id="8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2090178" y="6134100"/>
            <a:ext cx="5432375" cy="3400425"/>
          </a:xfrm>
          <a:prstGeom prst="rect">
            <a:avLst/>
          </a:prstGeom>
        </p:spPr>
      </p:pic>
      <p:pic>
        <p:nvPicPr>
          <p:cNvPr id="90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2090178" y="6134100"/>
            <a:ext cx="5422702" cy="3378100"/>
          </a:xfrm>
          <a:prstGeom prst="rect">
            <a:avLst/>
          </a:prstGeom>
        </p:spPr>
      </p:pic>
      <p:pic>
        <p:nvPicPr>
          <p:cNvPr id="902" name="iconNode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alphaModFix/>
            <a:extLst>
              <a:ext uri="{ECA2861E-A64B-4B8C-97DB-D3E88C465EA3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6916210" y="7677150"/>
            <a:ext cx="304705" cy="304705"/>
          </a:xfrm>
          <a:prstGeom prst="rect">
            <a:avLst/>
          </a:prstGeom>
        </p:spPr>
      </p:pic>
      <p:sp>
        <p:nvSpPr>
          <p:cNvPr id="904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394978" y="6723793"/>
            <a:ext cx="4405312" cy="2219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Summary: centralized PDF management plus metadata ensures accurate, accessible course content</a:t>
            </a:r>
          </a:p>
        </p:txBody>
      </p:sp>
      <p:sp>
        <p:nvSpPr>
          <p:cNvPr id="90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876300"/>
            <a:ext cx="15806738" cy="628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4872"/>
              </a:lnSpc>
            </a:pPr>
            <a:r>
              <a:rPr lang="en-US" sz="4200" spc="-34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Manage Course PDFs and Metadata for Reliable RAG</a:t>
            </a:r>
          </a:p>
        </p:txBody>
      </p:sp>
      <p:sp>
        <p:nvSpPr>
          <p:cNvPr id="90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1600200"/>
            <a:ext cx="15806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Upload, access, index and monitor PDFs to keep course content accurate and discoverable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3225998"/>
            <a:ext cx="5432375" cy="2895600"/>
          </a:xfrm>
          <a:prstGeom prst="rect">
            <a:avLst/>
          </a:prstGeom>
        </p:spPr>
      </p:pic>
      <p:pic>
        <p:nvPicPr>
          <p:cNvPr id="91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62000" y="3225998"/>
            <a:ext cx="5422702" cy="2876253"/>
          </a:xfrm>
          <a:prstGeom prst="rect">
            <a:avLst/>
          </a:prstGeom>
        </p:spPr>
      </p:pic>
      <p:pic>
        <p:nvPicPr>
          <p:cNvPr id="9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1066800" y="3530822"/>
            <a:ext cx="800100" cy="819150"/>
          </a:xfrm>
          <a:prstGeom prst="rect">
            <a:avLst/>
          </a:prstGeom>
        </p:spPr>
      </p:pic>
      <p:pic>
        <p:nvPicPr>
          <p:cNvPr id="921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1276350" y="3740372"/>
            <a:ext cx="381000" cy="381000"/>
          </a:xfrm>
          <a:prstGeom prst="rect">
            <a:avLst/>
          </a:prstGeom>
        </p:spPr>
      </p:pic>
      <p:sp>
        <p:nvSpPr>
          <p:cNvPr id="923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6800" y="4483322"/>
            <a:ext cx="4862512" cy="1323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Aggregate stats: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 average rating, response rate, and trend over recent weeks to track changes</a:t>
            </a:r>
          </a:p>
        </p:txBody>
      </p:sp>
      <p:pic>
        <p:nvPicPr>
          <p:cNvPr id="9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6426136" y="3226022"/>
            <a:ext cx="5432375" cy="2895600"/>
          </a:xfrm>
          <a:prstGeom prst="rect">
            <a:avLst/>
          </a:prstGeom>
        </p:spPr>
      </p:pic>
      <p:pic>
        <p:nvPicPr>
          <p:cNvPr id="92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6426136" y="3226022"/>
            <a:ext cx="5422702" cy="2876253"/>
          </a:xfrm>
          <a:prstGeom prst="rect">
            <a:avLst/>
          </a:prstGeom>
        </p:spPr>
      </p:pic>
      <p:pic>
        <p:nvPicPr>
          <p:cNvPr id="9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6730936" y="3530822"/>
            <a:ext cx="800100" cy="819150"/>
          </a:xfrm>
          <a:prstGeom prst="rect">
            <a:avLst/>
          </a:prstGeom>
        </p:spPr>
      </p:pic>
      <p:pic>
        <p:nvPicPr>
          <p:cNvPr id="931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  <a:extLst>
              <a:ext uri="{38A728A6-9A0C-4AD5-B9CC-D03FDEC9333D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6940486" y="3740372"/>
            <a:ext cx="381000" cy="381000"/>
          </a:xfrm>
          <a:prstGeom prst="rect">
            <a:avLst/>
          </a:prstGeom>
        </p:spPr>
      </p:pic>
      <p:sp>
        <p:nvSpPr>
          <p:cNvPr id="933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30936" y="4483322"/>
            <a:ext cx="4862512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Rating distribution: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 visual split of 5–1 stars to pinpoint strengths and problem areas</a:t>
            </a:r>
          </a:p>
        </p:txBody>
      </p:sp>
      <p:pic>
        <p:nvPicPr>
          <p:cNvPr id="9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2090178" y="3226022"/>
            <a:ext cx="5432375" cy="2895600"/>
          </a:xfrm>
          <a:prstGeom prst="rect">
            <a:avLst/>
          </a:prstGeom>
        </p:spPr>
      </p:pic>
      <p:pic>
        <p:nvPicPr>
          <p:cNvPr id="93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2090178" y="3226022"/>
            <a:ext cx="5422702" cy="2876253"/>
          </a:xfrm>
          <a:prstGeom prst="rect">
            <a:avLst/>
          </a:prstGeom>
        </p:spPr>
      </p:pic>
      <p:pic>
        <p:nvPicPr>
          <p:cNvPr id="9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12394978" y="3530822"/>
            <a:ext cx="800100" cy="819150"/>
          </a:xfrm>
          <a:prstGeom prst="rect">
            <a:avLst/>
          </a:prstGeom>
        </p:spPr>
      </p:pic>
      <p:pic>
        <p:nvPicPr>
          <p:cNvPr id="941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/>
            <a:extLst>
              <a:ext uri="{EF9769F1-3B48-4E82-9BCD-C27A262B4123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2604528" y="3740372"/>
            <a:ext cx="381000" cy="381000"/>
          </a:xfrm>
          <a:prstGeom prst="rect">
            <a:avLst/>
          </a:prstGeom>
        </p:spPr>
      </p:pic>
      <p:sp>
        <p:nvSpPr>
          <p:cNvPr id="943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394978" y="4483322"/>
            <a:ext cx="4862512" cy="1323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Recent responses: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 latest qualitative comments and quick sentiment tags for instructor review</a:t>
            </a:r>
          </a:p>
        </p:txBody>
      </p:sp>
      <p:pic>
        <p:nvPicPr>
          <p:cNvPr id="9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6343650"/>
            <a:ext cx="5432375" cy="2895600"/>
          </a:xfrm>
          <a:prstGeom prst="rect">
            <a:avLst/>
          </a:prstGeom>
        </p:spPr>
      </p:pic>
      <p:pic>
        <p:nvPicPr>
          <p:cNvPr id="94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62000" y="6343650"/>
            <a:ext cx="5422702" cy="2876253"/>
          </a:xfrm>
          <a:prstGeom prst="rect">
            <a:avLst/>
          </a:prstGeom>
        </p:spPr>
      </p:pic>
      <p:pic>
        <p:nvPicPr>
          <p:cNvPr id="9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1066800" y="6648450"/>
            <a:ext cx="800100" cy="819150"/>
          </a:xfrm>
          <a:prstGeom prst="rect">
            <a:avLst/>
          </a:prstGeom>
        </p:spPr>
      </p:pic>
      <p:pic>
        <p:nvPicPr>
          <p:cNvPr id="951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  <a:extLst>
              <a:ext uri="{7382FCB3-2436-40D0-AF33-5A7F0066FC53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276350" y="6858000"/>
            <a:ext cx="381000" cy="381000"/>
          </a:xfrm>
          <a:prstGeom prst="rect">
            <a:avLst/>
          </a:prstGeom>
        </p:spPr>
      </p:pic>
      <p:sp>
        <p:nvSpPr>
          <p:cNvPr id="953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2501" y="7486196"/>
            <a:ext cx="5349569" cy="176272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Top themes in comments: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 usability, pacing, clarity, and engagement with suggested fixes</a:t>
            </a:r>
          </a:p>
        </p:txBody>
      </p:sp>
      <p:pic>
        <p:nvPicPr>
          <p:cNvPr id="9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6426136" y="6343650"/>
            <a:ext cx="5432375" cy="2895600"/>
          </a:xfrm>
          <a:prstGeom prst="rect">
            <a:avLst/>
          </a:prstGeom>
        </p:spPr>
      </p:pic>
      <p:pic>
        <p:nvPicPr>
          <p:cNvPr id="95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6426136" y="6343650"/>
            <a:ext cx="5422702" cy="2876253"/>
          </a:xfrm>
          <a:prstGeom prst="rect">
            <a:avLst/>
          </a:prstGeom>
        </p:spPr>
      </p:pic>
      <p:pic>
        <p:nvPicPr>
          <p:cNvPr id="95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6730936" y="6648450"/>
            <a:ext cx="800100" cy="819150"/>
          </a:xfrm>
          <a:prstGeom prst="rect">
            <a:avLst/>
          </a:prstGeom>
        </p:spPr>
      </p:pic>
      <p:pic>
        <p:nvPicPr>
          <p:cNvPr id="961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alphaModFix/>
            <a:extLst>
              <a:ext uri="{D40A0CC1-1164-410E-AE67-D3403E36334E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6940486" y="6858000"/>
            <a:ext cx="381000" cy="381000"/>
          </a:xfrm>
          <a:prstGeom prst="rect">
            <a:avLst/>
          </a:prstGeom>
        </p:spPr>
      </p:pic>
      <p:sp>
        <p:nvSpPr>
          <p:cNvPr id="963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30936" y="7472581"/>
            <a:ext cx="5103852" cy="176272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Actionable insights: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 prioritized changes to course delivery and system usability with quick wins</a:t>
            </a:r>
          </a:p>
        </p:txBody>
      </p:sp>
      <p:pic>
        <p:nvPicPr>
          <p:cNvPr id="9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2090178" y="6343650"/>
            <a:ext cx="5432375" cy="2895600"/>
          </a:xfrm>
          <a:prstGeom prst="rect">
            <a:avLst/>
          </a:prstGeom>
        </p:spPr>
      </p:pic>
      <p:pic>
        <p:nvPicPr>
          <p:cNvPr id="96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2090178" y="6343650"/>
            <a:ext cx="5432374" cy="2876253"/>
          </a:xfrm>
          <a:prstGeom prst="rect">
            <a:avLst/>
          </a:prstGeom>
        </p:spPr>
      </p:pic>
      <p:pic>
        <p:nvPicPr>
          <p:cNvPr id="9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12394978" y="6648450"/>
            <a:ext cx="800100" cy="819150"/>
          </a:xfrm>
          <a:prstGeom prst="rect">
            <a:avLst/>
          </a:prstGeom>
        </p:spPr>
      </p:pic>
      <p:pic>
        <p:nvPicPr>
          <p:cNvPr id="971" name="iconNode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/>
            <a:extLst>
              <a:ext uri="{234B8109-8EB2-4618-AFE6-07FFB3239162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2604528" y="6858000"/>
            <a:ext cx="381000" cy="381000"/>
          </a:xfrm>
          <a:prstGeom prst="rect">
            <a:avLst/>
          </a:prstGeom>
        </p:spPr>
      </p:pic>
      <p:sp>
        <p:nvSpPr>
          <p:cNvPr id="973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17983" y="7624626"/>
            <a:ext cx="5893022" cy="1323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Summary: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 monitor rating trends, address top comment themes, implement quick usability fixes</a:t>
            </a:r>
          </a:p>
        </p:txBody>
      </p:sp>
      <p:sp>
        <p:nvSpPr>
          <p:cNvPr id="975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876300"/>
            <a:ext cx="15806738" cy="628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4872"/>
              </a:lnSpc>
            </a:pPr>
            <a:r>
              <a:rPr lang="en-US" sz="4200" spc="-34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Instructor Features: Feedback Analysis</a:t>
            </a:r>
          </a:p>
        </p:txBody>
      </p:sp>
      <p:sp>
        <p:nvSpPr>
          <p:cNvPr id="97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1600200"/>
            <a:ext cx="15806738" cy="8858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Aggregate stats, recent responses, rating breakdowns, and actionable improvements for course delivery and usability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2552700"/>
            <a:ext cx="5432375" cy="3381375"/>
          </a:xfrm>
          <a:prstGeom prst="rect">
            <a:avLst/>
          </a:prstGeom>
        </p:spPr>
      </p:pic>
      <p:pic>
        <p:nvPicPr>
          <p:cNvPr id="98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62000" y="2552700"/>
            <a:ext cx="5422702" cy="3359050"/>
          </a:xfrm>
          <a:prstGeom prst="rect">
            <a:avLst/>
          </a:prstGeom>
        </p:spPr>
      </p:pic>
      <p:sp>
        <p:nvSpPr>
          <p:cNvPr id="988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6800" y="3009900"/>
            <a:ext cx="4862512" cy="1485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 b="1" spc="21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Reindex content</a:t>
            </a:r>
            <a:r>
              <a:rPr lang="en-US" sz="3000" spc="21" dirty="0">
                <a:solidFill>
                  <a:srgbClr val="FFFFFF"/>
                </a:solidFill>
                <a:latin typeface="Public Sans" panose="00000700000000000000" pitchFamily="2" charset="0"/>
              </a:rPr>
              <a:t> to restore search accuracy and data integrity</a:t>
            </a:r>
          </a:p>
        </p:txBody>
      </p:sp>
      <p:pic>
        <p:nvPicPr>
          <p:cNvPr id="9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6426136" y="2552700"/>
            <a:ext cx="5432375" cy="3381375"/>
          </a:xfrm>
          <a:prstGeom prst="rect">
            <a:avLst/>
          </a:prstGeom>
        </p:spPr>
      </p:pic>
      <p:pic>
        <p:nvPicPr>
          <p:cNvPr id="99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6426136" y="2552700"/>
            <a:ext cx="5422702" cy="3359050"/>
          </a:xfrm>
          <a:prstGeom prst="rect">
            <a:avLst/>
          </a:prstGeom>
        </p:spPr>
      </p:pic>
      <p:sp>
        <p:nvSpPr>
          <p:cNvPr id="994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30936" y="3009900"/>
            <a:ext cx="4862512" cy="1971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 b="1" spc="21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Manage caches</a:t>
            </a:r>
            <a:r>
              <a:rPr lang="en-US" sz="3000" spc="21" dirty="0">
                <a:solidFill>
                  <a:srgbClr val="FFFFFF"/>
                </a:solidFill>
                <a:latin typeface="Public Sans" panose="00000700000000000000" pitchFamily="2" charset="0"/>
              </a:rPr>
              <a:t>: clear, invalidate, and configure cache layers for performance</a:t>
            </a:r>
          </a:p>
        </p:txBody>
      </p:sp>
      <p:pic>
        <p:nvPicPr>
          <p:cNvPr id="99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2090178" y="2552700"/>
            <a:ext cx="5432375" cy="3381375"/>
          </a:xfrm>
          <a:prstGeom prst="rect">
            <a:avLst/>
          </a:prstGeom>
        </p:spPr>
      </p:pic>
      <p:pic>
        <p:nvPicPr>
          <p:cNvPr id="998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2090178" y="2552700"/>
            <a:ext cx="5422702" cy="3359050"/>
          </a:xfrm>
          <a:prstGeom prst="rect">
            <a:avLst/>
          </a:prstGeom>
        </p:spPr>
      </p:pic>
      <p:sp>
        <p:nvSpPr>
          <p:cNvPr id="1000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394978" y="3009900"/>
            <a:ext cx="4862512" cy="1485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 b="1" spc="21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Monitor system health</a:t>
            </a:r>
            <a:r>
              <a:rPr lang="en-US" sz="3000" spc="21" dirty="0">
                <a:solidFill>
                  <a:srgbClr val="FFFFFF"/>
                </a:solidFill>
                <a:latin typeface="Public Sans" panose="00000700000000000000" pitchFamily="2" charset="0"/>
              </a:rPr>
              <a:t>: real-time metrics, alerts, and uptime checks</a:t>
            </a:r>
          </a:p>
        </p:txBody>
      </p:sp>
      <p:pic>
        <p:nvPicPr>
          <p:cNvPr id="10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6153150"/>
            <a:ext cx="5432375" cy="3381375"/>
          </a:xfrm>
          <a:prstGeom prst="rect">
            <a:avLst/>
          </a:prstGeom>
        </p:spPr>
      </p:pic>
      <p:pic>
        <p:nvPicPr>
          <p:cNvPr id="100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62000" y="6153150"/>
            <a:ext cx="5422702" cy="3359050"/>
          </a:xfrm>
          <a:prstGeom prst="rect">
            <a:avLst/>
          </a:prstGeom>
        </p:spPr>
      </p:pic>
      <p:sp>
        <p:nvSpPr>
          <p:cNvPr id="1006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6800" y="6610350"/>
            <a:ext cx="4862512" cy="1971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 b="1" spc="21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Export analytics &amp; logs</a:t>
            </a:r>
            <a:r>
              <a:rPr lang="en-US" sz="3000" spc="21" dirty="0">
                <a:solidFill>
                  <a:srgbClr val="FFFFFF"/>
                </a:solidFill>
                <a:latin typeface="Public Sans" panose="00000700000000000000" pitchFamily="2" charset="0"/>
              </a:rPr>
              <a:t> for auditing, troubleshooting, and data preservation</a:t>
            </a:r>
          </a:p>
        </p:txBody>
      </p:sp>
      <p:pic>
        <p:nvPicPr>
          <p:cNvPr id="100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6426136" y="6153150"/>
            <a:ext cx="5432375" cy="3381375"/>
          </a:xfrm>
          <a:prstGeom prst="rect">
            <a:avLst/>
          </a:prstGeom>
        </p:spPr>
      </p:pic>
      <p:pic>
        <p:nvPicPr>
          <p:cNvPr id="101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6426136" y="6153150"/>
            <a:ext cx="5422702" cy="3359050"/>
          </a:xfrm>
          <a:prstGeom prst="rect">
            <a:avLst/>
          </a:prstGeom>
        </p:spPr>
      </p:pic>
      <p:sp>
        <p:nvSpPr>
          <p:cNvPr id="1012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30936" y="6610350"/>
            <a:ext cx="4862512" cy="1485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 b="1" spc="21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Ensure stability &amp; reliability</a:t>
            </a:r>
            <a:r>
              <a:rPr lang="en-US" sz="3000" spc="21" dirty="0">
                <a:solidFill>
                  <a:srgbClr val="FFFFFF"/>
                </a:solidFill>
                <a:latin typeface="Public Sans" panose="00000700000000000000" pitchFamily="2" charset="0"/>
              </a:rPr>
              <a:t> via scheduled maintenance and backups</a:t>
            </a:r>
          </a:p>
        </p:txBody>
      </p:sp>
      <p:sp>
        <p:nvSpPr>
          <p:cNvPr id="101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876300"/>
            <a:ext cx="15806738" cy="628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4872"/>
              </a:lnSpc>
            </a:pPr>
            <a:r>
              <a:rPr lang="en-US" sz="4200" spc="-34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Instructor Tools for System Administration</a:t>
            </a:r>
          </a:p>
        </p:txBody>
      </p:sp>
      <p:sp>
        <p:nvSpPr>
          <p:cNvPr id="101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1600200"/>
            <a:ext cx="15806738" cy="5048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870"/>
              </a:lnSpc>
            </a:pPr>
            <a:r>
              <a:rPr lang="en-US" sz="3000" spc="21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Manual controls to keep platform stable, reliable, and auditable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0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0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162800" y="914400"/>
            <a:ext cx="10366324" cy="1990725"/>
          </a:xfrm>
          <a:prstGeom prst="rect">
            <a:avLst/>
          </a:prstGeom>
        </p:spPr>
      </p:pic>
      <p:pic>
        <p:nvPicPr>
          <p:cNvPr id="102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162800" y="914400"/>
            <a:ext cx="10350398" cy="1968400"/>
          </a:xfrm>
          <a:prstGeom prst="rect">
            <a:avLst/>
          </a:prstGeom>
        </p:spPr>
      </p:pic>
      <p:pic>
        <p:nvPicPr>
          <p:cNvPr id="1027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2263D17B-C759-4790-90E4-CED9EC01A546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7467600" y="1722120"/>
            <a:ext cx="365760" cy="365760"/>
          </a:xfrm>
          <a:prstGeom prst="rect">
            <a:avLst/>
          </a:prstGeom>
        </p:spPr>
      </p:pic>
      <p:sp>
        <p:nvSpPr>
          <p:cNvPr id="1029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85760" y="1462659"/>
            <a:ext cx="9272588" cy="895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Login required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 for instructor and professor dashboards, course materials upload, and feedback summary views</a:t>
            </a:r>
          </a:p>
        </p:txBody>
      </p:sp>
      <p:pic>
        <p:nvPicPr>
          <p:cNvPr id="10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162800" y="3124200"/>
            <a:ext cx="10366324" cy="1990725"/>
          </a:xfrm>
          <a:prstGeom prst="rect">
            <a:avLst/>
          </a:prstGeom>
        </p:spPr>
      </p:pic>
      <p:pic>
        <p:nvPicPr>
          <p:cNvPr id="103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162800" y="3124200"/>
            <a:ext cx="10350398" cy="1968400"/>
          </a:xfrm>
          <a:prstGeom prst="rect">
            <a:avLst/>
          </a:prstGeom>
        </p:spPr>
      </p:pic>
      <p:pic>
        <p:nvPicPr>
          <p:cNvPr id="1035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7467600" y="3931920"/>
            <a:ext cx="365760" cy="365760"/>
          </a:xfrm>
          <a:prstGeom prst="rect">
            <a:avLst/>
          </a:prstGeom>
        </p:spPr>
      </p:pic>
      <p:sp>
        <p:nvSpPr>
          <p:cNvPr id="1037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85760" y="3893630"/>
            <a:ext cx="9272588" cy="447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Credentials are </a:t>
            </a:r>
            <a:r>
              <a:rPr lang="en-US" sz="2700" b="1" spc="19" dirty="0">
                <a:solidFill>
                  <a:srgbClr val="FFFFFF"/>
                </a:solidFill>
                <a:latin typeface="Public Sans" panose="00000700000000000000" pitchFamily="2" charset="0"/>
              </a:rPr>
              <a:t>predefined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 with session persistence</a:t>
            </a:r>
          </a:p>
        </p:txBody>
      </p:sp>
      <p:pic>
        <p:nvPicPr>
          <p:cNvPr id="10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162800" y="5334000"/>
            <a:ext cx="10366324" cy="1990725"/>
          </a:xfrm>
          <a:prstGeom prst="rect">
            <a:avLst/>
          </a:prstGeom>
        </p:spPr>
      </p:pic>
      <p:pic>
        <p:nvPicPr>
          <p:cNvPr id="104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162800" y="5334000"/>
            <a:ext cx="10350398" cy="1968400"/>
          </a:xfrm>
          <a:prstGeom prst="rect">
            <a:avLst/>
          </a:prstGeom>
        </p:spPr>
      </p:pic>
      <p:pic>
        <p:nvPicPr>
          <p:cNvPr id="1043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  <a:extLst>
              <a:ext uri="{E0473A3E-C581-403A-B97E-AA32E6C8F6BB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7467600" y="6141720"/>
            <a:ext cx="365760" cy="365760"/>
          </a:xfrm>
          <a:prstGeom prst="rect">
            <a:avLst/>
          </a:prstGeom>
        </p:spPr>
      </p:pic>
      <p:sp>
        <p:nvSpPr>
          <p:cNvPr id="1045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85760" y="5882259"/>
            <a:ext cx="9272588" cy="895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Students can </a:t>
            </a:r>
            <a:r>
              <a:rPr lang="en-US" sz="2700" b="1" spc="19" dirty="0">
                <a:solidFill>
                  <a:srgbClr val="FFFFFF"/>
                </a:solidFill>
                <a:latin typeface="Public Sans" panose="00000700000000000000" pitchFamily="2" charset="0"/>
              </a:rPr>
              <a:t>access search and submit feedback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 without login</a:t>
            </a:r>
          </a:p>
        </p:txBody>
      </p:sp>
      <p:pic>
        <p:nvPicPr>
          <p:cNvPr id="104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162800" y="7543800"/>
            <a:ext cx="10366324" cy="1990725"/>
          </a:xfrm>
          <a:prstGeom prst="rect">
            <a:avLst/>
          </a:prstGeom>
        </p:spPr>
      </p:pic>
      <p:pic>
        <p:nvPicPr>
          <p:cNvPr id="104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162800" y="7543800"/>
            <a:ext cx="10350398" cy="1968400"/>
          </a:xfrm>
          <a:prstGeom prst="rect">
            <a:avLst/>
          </a:prstGeom>
        </p:spPr>
      </p:pic>
      <p:pic>
        <p:nvPicPr>
          <p:cNvPr id="1051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/>
            <a:extLst>
              <a:ext uri="{5C0D290B-6CA2-4FC3-8768-118E34FFE838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7467600" y="8351520"/>
            <a:ext cx="365760" cy="365760"/>
          </a:xfrm>
          <a:prstGeom prst="rect">
            <a:avLst/>
          </a:prstGeom>
        </p:spPr>
      </p:pic>
      <p:sp>
        <p:nvSpPr>
          <p:cNvPr id="1053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85760" y="8092059"/>
            <a:ext cx="9272588" cy="895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spc="19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Balance </a:t>
            </a:r>
            <a:r>
              <a:rPr lang="en-US" sz="2700" b="1" spc="19" dirty="0">
                <a:solidFill>
                  <a:srgbClr val="FFFFFF"/>
                </a:solidFill>
                <a:latin typeface="Public Sans" panose="00000700000000000000" pitchFamily="2" charset="0"/>
              </a:rPr>
              <a:t>security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 and </a:t>
            </a:r>
            <a:r>
              <a:rPr lang="en-US" sz="2700" b="1" spc="19" dirty="0">
                <a:solidFill>
                  <a:srgbClr val="FFFFFF"/>
                </a:solidFill>
                <a:latin typeface="Public Sans" panose="00000700000000000000" pitchFamily="2" charset="0"/>
              </a:rPr>
              <a:t>accessibility</a:t>
            </a:r>
            <a:r>
              <a:rPr lang="en-US" sz="2700" spc="19" dirty="0">
                <a:solidFill>
                  <a:srgbClr val="FFFFFF"/>
                </a:solidFill>
                <a:latin typeface="Public Sans" panose="00000700000000000000" pitchFamily="2" charset="0"/>
              </a:rPr>
              <a:t>: restrict sensitive workflows, allow open participation</a:t>
            </a:r>
          </a:p>
        </p:txBody>
      </p:sp>
      <p:sp>
        <p:nvSpPr>
          <p:cNvPr id="1055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100" y="883920"/>
            <a:ext cx="5595938" cy="2657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6000" spc="-48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Secure Access: Roles &amp; Open Access</a:t>
            </a:r>
          </a:p>
        </p:txBody>
      </p:sp>
      <p:sp>
        <p:nvSpPr>
          <p:cNvPr id="105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100" y="3848100"/>
            <a:ext cx="5595938" cy="14668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 spc="21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Protect instructor workflows while keeping student features accessible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0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064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  <a:extLst>
              <a:ext uri="{5C3A2431-514E-4CEB-A6F8-9334F27535C9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4953000" y="2628900"/>
            <a:ext cx="8382000" cy="6896100"/>
          </a:xfrm>
          <a:prstGeom prst="rect">
            <a:avLst/>
          </a:prstGeom>
        </p:spPr>
      </p:pic>
      <p:sp>
        <p:nvSpPr>
          <p:cNvPr id="1065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000" y="2836545"/>
            <a:ext cx="5253038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630"/>
              </a:lnSpc>
            </a:pPr>
            <a:r>
              <a:rPr lang="en-US" sz="3000" b="1" spc="-36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Streamlit</a:t>
            </a:r>
            <a:r>
              <a:rPr lang="en-US" sz="3000" spc="-36" dirty="0">
                <a:solidFill>
                  <a:srgbClr val="FFFFFF"/>
                </a:solidFill>
                <a:latin typeface="Public Sans Medium" panose="00000700000000000000" pitchFamily="2" charset="0"/>
              </a:rPr>
              <a:t> web interface</a:t>
            </a:r>
          </a:p>
        </p:txBody>
      </p:sp>
      <p:sp>
        <p:nvSpPr>
          <p:cNvPr id="1066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000" y="3411855"/>
            <a:ext cx="5253038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Unified UI hosting student assistant, feedback, instructor, and professor dashboards</a:t>
            </a:r>
          </a:p>
        </p:txBody>
      </p:sp>
      <p:sp>
        <p:nvSpPr>
          <p:cNvPr id="1067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91727" y="4199572"/>
            <a:ext cx="5272088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000" b="1" spc="-36" dirty="0">
                <a:solidFill>
                  <a:srgbClr val="F0F0F0">
                    <a:alpha val="100000"/>
                  </a:srgbClr>
                </a:solidFill>
                <a:latin typeface="Public Sans Medium" panose="00000700000000000000" pitchFamily="2" charset="0"/>
              </a:rPr>
              <a:t>Main Controller</a:t>
            </a:r>
          </a:p>
        </p:txBody>
      </p:sp>
      <p:sp>
        <p:nvSpPr>
          <p:cNvPr id="1068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91727" y="4774787"/>
            <a:ext cx="5272088" cy="895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Session router that directs users to core backend systems</a:t>
            </a:r>
          </a:p>
        </p:txBody>
      </p:sp>
      <p:sp>
        <p:nvSpPr>
          <p:cNvPr id="1069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91727" y="6261830"/>
            <a:ext cx="5272088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000" b="1" spc="-36" dirty="0">
                <a:solidFill>
                  <a:srgbClr val="E9E9E9">
                    <a:alpha val="100000"/>
                  </a:srgbClr>
                </a:solidFill>
                <a:latin typeface="Public Sans Medium" panose="00000700000000000000" pitchFamily="2" charset="0"/>
              </a:rPr>
              <a:t>RAG Engine</a:t>
            </a:r>
          </a:p>
        </p:txBody>
      </p:sp>
      <p:sp>
        <p:nvSpPr>
          <p:cNvPr id="1070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91727" y="6837045"/>
            <a:ext cx="5272088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Retrieval-Augmented Generation paired with AI model and storage</a:t>
            </a:r>
          </a:p>
        </p:txBody>
      </p:sp>
      <p:sp>
        <p:nvSpPr>
          <p:cNvPr id="1071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000" y="7624762"/>
            <a:ext cx="5253038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630"/>
              </a:lnSpc>
            </a:pPr>
            <a:r>
              <a:rPr lang="en-US" sz="3000" b="1" spc="-36" dirty="0">
                <a:solidFill>
                  <a:srgbClr val="E2E2E2">
                    <a:alpha val="100000"/>
                  </a:srgbClr>
                </a:solidFill>
                <a:latin typeface="Public Sans Medium" panose="00000700000000000000" pitchFamily="2" charset="0"/>
              </a:rPr>
              <a:t>YouTube Lecture Assistant</a:t>
            </a:r>
          </a:p>
        </p:txBody>
      </p:sp>
      <p:sp>
        <p:nvSpPr>
          <p:cNvPr id="1072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000" y="8200072"/>
            <a:ext cx="5253038" cy="895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Video-processing backend with AI model and media storage</a:t>
            </a:r>
          </a:p>
        </p:txBody>
      </p:sp>
      <p:sp>
        <p:nvSpPr>
          <p:cNvPr id="1073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000" y="5120068"/>
            <a:ext cx="5253038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630"/>
              </a:lnSpc>
            </a:pPr>
            <a:r>
              <a:rPr lang="en-US" sz="3000" b="1" spc="-36" dirty="0">
                <a:solidFill>
                  <a:srgbClr val="DBDBDB">
                    <a:alpha val="100000"/>
                  </a:srgbClr>
                </a:solidFill>
                <a:latin typeface="Public Sans Medium" panose="00000700000000000000" pitchFamily="2" charset="0"/>
              </a:rPr>
              <a:t>AI Models &amp; Storage</a:t>
            </a:r>
          </a:p>
        </p:txBody>
      </p:sp>
      <p:sp>
        <p:nvSpPr>
          <p:cNvPr id="1074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000" y="5695378"/>
            <a:ext cx="5253038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Each backend includes dedicated AI models and persistent storage</a:t>
            </a:r>
          </a:p>
        </p:txBody>
      </p:sp>
      <p:sp>
        <p:nvSpPr>
          <p:cNvPr id="1075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876300"/>
            <a:ext cx="15806738" cy="628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4872"/>
              </a:lnSpc>
            </a:pPr>
            <a:r>
              <a:rPr lang="en-US" sz="4200" spc="-34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System Architecture Diagram</a:t>
            </a:r>
          </a:p>
        </p:txBody>
      </p:sp>
      <p:sp>
        <p:nvSpPr>
          <p:cNvPr id="107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1600200"/>
            <a:ext cx="15806738" cy="552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4257"/>
              </a:lnSpc>
            </a:pPr>
            <a:r>
              <a:rPr lang="en-US" sz="3300" spc="23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Visualize Streamlit interface, main controller, and dual backends for SmartTA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0C24FC-A402-2295-E442-23F51190C72A}"/>
              </a:ext>
            </a:extLst>
          </p:cNvPr>
          <p:cNvSpPr txBox="1"/>
          <p:nvPr/>
        </p:nvSpPr>
        <p:spPr>
          <a:xfrm>
            <a:off x="17316450" y="9372600"/>
            <a:ext cx="64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B" sz="2400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0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084" name="-47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2050" y="2514600"/>
            <a:ext cx="7824788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 spc="17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Download &amp; Decode</a:t>
            </a:r>
          </a:p>
        </p:txBody>
      </p:sp>
      <p:pic>
        <p:nvPicPr>
          <p:cNvPr id="108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2614422"/>
            <a:ext cx="190500" cy="190500"/>
          </a:xfrm>
          <a:prstGeom prst="rect">
            <a:avLst/>
          </a:prstGeom>
        </p:spPr>
      </p:pic>
      <p:sp>
        <p:nvSpPr>
          <p:cNvPr id="1086" name="-47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6400" y="3095244"/>
            <a:ext cx="731043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400" spc="17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Download lecture audio from YouTube and process with </a:t>
            </a:r>
            <a:r>
              <a:rPr lang="en-US" sz="2400" b="1" spc="17" dirty="0">
                <a:solidFill>
                  <a:srgbClr val="FFFFFF"/>
                </a:solidFill>
                <a:latin typeface="Public Sans" panose="00000700000000000000" pitchFamily="2" charset="0"/>
              </a:rPr>
              <a:t>FFmpeg</a:t>
            </a:r>
            <a:r>
              <a:rPr lang="en-US" sz="2400" spc="17" dirty="0">
                <a:solidFill>
                  <a:srgbClr val="FFFFFF"/>
                </a:solidFill>
                <a:latin typeface="Public Sans" panose="00000700000000000000" pitchFamily="2" charset="0"/>
              </a:rPr>
              <a:t> for uniform format</a:t>
            </a:r>
          </a:p>
        </p:txBody>
      </p:sp>
      <p:pic>
        <p:nvPicPr>
          <p:cNvPr id="108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276350" y="3173349"/>
            <a:ext cx="171450" cy="171450"/>
          </a:xfrm>
          <a:prstGeom prst="rect">
            <a:avLst/>
          </a:prstGeom>
        </p:spPr>
      </p:pic>
      <p:sp>
        <p:nvSpPr>
          <p:cNvPr id="1088" name="-44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2050" y="4071938"/>
            <a:ext cx="7824788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 spc="17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Transcription</a:t>
            </a:r>
          </a:p>
        </p:txBody>
      </p:sp>
      <p:pic>
        <p:nvPicPr>
          <p:cNvPr id="108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4171760"/>
            <a:ext cx="190500" cy="190500"/>
          </a:xfrm>
          <a:prstGeom prst="rect">
            <a:avLst/>
          </a:prstGeom>
        </p:spPr>
      </p:pic>
      <p:sp>
        <p:nvSpPr>
          <p:cNvPr id="1090" name="-44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6400" y="4652582"/>
            <a:ext cx="731043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400" spc="17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Transcribe audio using </a:t>
            </a:r>
            <a:r>
              <a:rPr lang="en-US" sz="2400" b="1" spc="17" dirty="0">
                <a:solidFill>
                  <a:srgbClr val="FFFFFF"/>
                </a:solidFill>
                <a:latin typeface="Public Sans" panose="00000700000000000000" pitchFamily="2" charset="0"/>
              </a:rPr>
              <a:t>Whisper</a:t>
            </a:r>
            <a:r>
              <a:rPr lang="en-US" sz="2400" spc="17" dirty="0">
                <a:solidFill>
                  <a:srgbClr val="FFFFFF"/>
                </a:solidFill>
                <a:latin typeface="Public Sans" panose="00000700000000000000" pitchFamily="2" charset="0"/>
              </a:rPr>
              <a:t> to produce time-aligned text</a:t>
            </a:r>
          </a:p>
        </p:txBody>
      </p:sp>
      <p:pic>
        <p:nvPicPr>
          <p:cNvPr id="1091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276350" y="4730686"/>
            <a:ext cx="171450" cy="171450"/>
          </a:xfrm>
          <a:prstGeom prst="rect">
            <a:avLst/>
          </a:prstGeom>
        </p:spPr>
      </p:pic>
      <p:sp>
        <p:nvSpPr>
          <p:cNvPr id="1092" name="-47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2050" y="5629275"/>
            <a:ext cx="7824788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 spc="17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Segment &amp; Embed</a:t>
            </a:r>
          </a:p>
        </p:txBody>
      </p:sp>
      <p:pic>
        <p:nvPicPr>
          <p:cNvPr id="109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5729097"/>
            <a:ext cx="190500" cy="190500"/>
          </a:xfrm>
          <a:prstGeom prst="rect">
            <a:avLst/>
          </a:prstGeom>
        </p:spPr>
      </p:pic>
      <p:sp>
        <p:nvSpPr>
          <p:cNvPr id="1094" name="-41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6400" y="6209919"/>
            <a:ext cx="731043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400" spc="17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Segment transcripts into passages and compute </a:t>
            </a:r>
            <a:r>
              <a:rPr lang="en-US" sz="2400" b="1" spc="17" dirty="0">
                <a:solidFill>
                  <a:srgbClr val="FFFFFF"/>
                </a:solidFill>
                <a:latin typeface="Public Sans" panose="00000700000000000000" pitchFamily="2" charset="0"/>
              </a:rPr>
              <a:t>embeddings</a:t>
            </a:r>
            <a:r>
              <a:rPr lang="en-US" sz="2400" spc="17" dirty="0">
                <a:solidFill>
                  <a:srgbClr val="FFFFFF"/>
                </a:solidFill>
                <a:latin typeface="Public Sans" panose="00000700000000000000" pitchFamily="2" charset="0"/>
              </a:rPr>
              <a:t> for each segment</a:t>
            </a:r>
          </a:p>
        </p:txBody>
      </p:sp>
      <p:pic>
        <p:nvPicPr>
          <p:cNvPr id="109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276350" y="6288024"/>
            <a:ext cx="171450" cy="171450"/>
          </a:xfrm>
          <a:prstGeom prst="rect">
            <a:avLst/>
          </a:prstGeom>
        </p:spPr>
      </p:pic>
      <p:sp>
        <p:nvSpPr>
          <p:cNvPr id="1096" name="-46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2050" y="7186612"/>
            <a:ext cx="7824788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 spc="17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Indexing (FAISS)</a:t>
            </a:r>
          </a:p>
        </p:txBody>
      </p:sp>
      <p:pic>
        <p:nvPicPr>
          <p:cNvPr id="109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7286434"/>
            <a:ext cx="190500" cy="190500"/>
          </a:xfrm>
          <a:prstGeom prst="rect">
            <a:avLst/>
          </a:prstGeom>
        </p:spPr>
      </p:pic>
      <p:sp>
        <p:nvSpPr>
          <p:cNvPr id="1098" name="-47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6400" y="7767256"/>
            <a:ext cx="731043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400" spc="17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Index segment embeddings in </a:t>
            </a:r>
            <a:r>
              <a:rPr lang="en-US" sz="2400" b="1" spc="17" dirty="0">
                <a:solidFill>
                  <a:srgbClr val="FFFFFF"/>
                </a:solidFill>
                <a:latin typeface="Public Sans" panose="00000700000000000000" pitchFamily="2" charset="0"/>
              </a:rPr>
              <a:t>FAISS</a:t>
            </a:r>
            <a:r>
              <a:rPr lang="en-US" sz="2400" spc="17" dirty="0">
                <a:solidFill>
                  <a:srgbClr val="FFFFFF"/>
                </a:solidFill>
                <a:latin typeface="Public Sans" panose="00000700000000000000" pitchFamily="2" charset="0"/>
              </a:rPr>
              <a:t> for fast nearest-neighbor search</a:t>
            </a:r>
          </a:p>
        </p:txBody>
      </p:sp>
      <p:pic>
        <p:nvPicPr>
          <p:cNvPr id="109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276350" y="7845362"/>
            <a:ext cx="171450" cy="171450"/>
          </a:xfrm>
          <a:prstGeom prst="rect">
            <a:avLst/>
          </a:prstGeom>
        </p:spPr>
      </p:pic>
      <p:sp>
        <p:nvSpPr>
          <p:cNvPr id="1100" name="-48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2050" y="8743950"/>
            <a:ext cx="7824788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 spc="17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Query Embedding</a:t>
            </a:r>
          </a:p>
        </p:txBody>
      </p:sp>
      <p:pic>
        <p:nvPicPr>
          <p:cNvPr id="1101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8843772"/>
            <a:ext cx="190500" cy="190500"/>
          </a:xfrm>
          <a:prstGeom prst="rect">
            <a:avLst/>
          </a:prstGeom>
        </p:spPr>
      </p:pic>
      <p:sp>
        <p:nvSpPr>
          <p:cNvPr id="1102" name="-47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48900" y="2514600"/>
            <a:ext cx="731043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400" spc="17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Convert student query into an </a:t>
            </a:r>
            <a:r>
              <a:rPr lang="en-US" sz="2400" b="1" spc="17" dirty="0">
                <a:solidFill>
                  <a:srgbClr val="FFFFFF"/>
                </a:solidFill>
                <a:latin typeface="Public Sans" panose="00000700000000000000" pitchFamily="2" charset="0"/>
              </a:rPr>
              <a:t>embedding</a:t>
            </a:r>
            <a:r>
              <a:rPr lang="en-US" sz="2400" spc="17" dirty="0">
                <a:solidFill>
                  <a:srgbClr val="FFFFFF"/>
                </a:solidFill>
                <a:latin typeface="Public Sans" panose="00000700000000000000" pitchFamily="2" charset="0"/>
              </a:rPr>
              <a:t> for retrieval</a:t>
            </a:r>
          </a:p>
        </p:txBody>
      </p:sp>
      <p:pic>
        <p:nvPicPr>
          <p:cNvPr id="110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9848850" y="2592705"/>
            <a:ext cx="171450" cy="171450"/>
          </a:xfrm>
          <a:prstGeom prst="rect">
            <a:avLst/>
          </a:prstGeom>
        </p:spPr>
      </p:pic>
      <p:sp>
        <p:nvSpPr>
          <p:cNvPr id="1104" name="-46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34550" y="3491294"/>
            <a:ext cx="7824788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 spc="17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Retrieve Candidates</a:t>
            </a:r>
          </a:p>
        </p:txBody>
      </p:sp>
      <p:pic>
        <p:nvPicPr>
          <p:cNvPr id="110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9334500" y="3591116"/>
            <a:ext cx="190500" cy="190500"/>
          </a:xfrm>
          <a:prstGeom prst="rect">
            <a:avLst/>
          </a:prstGeom>
        </p:spPr>
      </p:pic>
      <p:sp>
        <p:nvSpPr>
          <p:cNvPr id="1106" name="-40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48900" y="4071938"/>
            <a:ext cx="731043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400" spc="17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Fetch nearest segments from FAISS using query embedding</a:t>
            </a:r>
          </a:p>
        </p:txBody>
      </p:sp>
      <p:pic>
        <p:nvPicPr>
          <p:cNvPr id="110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9848850" y="4150042"/>
            <a:ext cx="171450" cy="171450"/>
          </a:xfrm>
          <a:prstGeom prst="rect">
            <a:avLst/>
          </a:prstGeom>
        </p:spPr>
      </p:pic>
      <p:sp>
        <p:nvSpPr>
          <p:cNvPr id="1108" name="-49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34550" y="5048631"/>
            <a:ext cx="7824788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 spc="17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Boosting</a:t>
            </a:r>
          </a:p>
        </p:txBody>
      </p:sp>
      <p:pic>
        <p:nvPicPr>
          <p:cNvPr id="110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9334500" y="5148453"/>
            <a:ext cx="190500" cy="190500"/>
          </a:xfrm>
          <a:prstGeom prst="rect">
            <a:avLst/>
          </a:prstGeom>
        </p:spPr>
      </p:pic>
      <p:sp>
        <p:nvSpPr>
          <p:cNvPr id="1110" name="-48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48900" y="5629275"/>
            <a:ext cx="731043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400" spc="17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Apply </a:t>
            </a:r>
            <a:r>
              <a:rPr lang="en-US" sz="2400" b="1" spc="17" dirty="0">
                <a:solidFill>
                  <a:srgbClr val="FFFFFF"/>
                </a:solidFill>
                <a:latin typeface="Public Sans" panose="00000700000000000000" pitchFamily="2" charset="0"/>
              </a:rPr>
              <a:t>phrase matching</a:t>
            </a:r>
            <a:r>
              <a:rPr lang="en-US" sz="2400" spc="17" dirty="0">
                <a:solidFill>
                  <a:srgbClr val="FFFFFF"/>
                </a:solidFill>
                <a:latin typeface="Public Sans" panose="00000700000000000000" pitchFamily="2" charset="0"/>
              </a:rPr>
              <a:t> and </a:t>
            </a:r>
            <a:r>
              <a:rPr lang="en-US" sz="2400" b="1" spc="17" dirty="0">
                <a:solidFill>
                  <a:srgbClr val="FFFFFF"/>
                </a:solidFill>
                <a:latin typeface="Public Sans" panose="00000700000000000000" pitchFamily="2" charset="0"/>
              </a:rPr>
              <a:t>token overlap</a:t>
            </a:r>
            <a:r>
              <a:rPr lang="en-US" sz="2400" spc="17" dirty="0">
                <a:solidFill>
                  <a:srgbClr val="FFFFFF"/>
                </a:solidFill>
                <a:latin typeface="Public Sans" panose="00000700000000000000" pitchFamily="2" charset="0"/>
              </a:rPr>
              <a:t> boosts to candidate scores</a:t>
            </a:r>
          </a:p>
        </p:txBody>
      </p:sp>
      <p:pic>
        <p:nvPicPr>
          <p:cNvPr id="1111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9848850" y="5707380"/>
            <a:ext cx="171450" cy="171450"/>
          </a:xfrm>
          <a:prstGeom prst="rect">
            <a:avLst/>
          </a:prstGeom>
        </p:spPr>
      </p:pic>
      <p:sp>
        <p:nvSpPr>
          <p:cNvPr id="1112" name="-47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34550" y="6605968"/>
            <a:ext cx="7824788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 spc="17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Optional Rerank</a:t>
            </a:r>
          </a:p>
        </p:txBody>
      </p:sp>
      <p:pic>
        <p:nvPicPr>
          <p:cNvPr id="111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9334500" y="6705790"/>
            <a:ext cx="190500" cy="190500"/>
          </a:xfrm>
          <a:prstGeom prst="rect">
            <a:avLst/>
          </a:prstGeom>
        </p:spPr>
      </p:pic>
      <p:sp>
        <p:nvSpPr>
          <p:cNvPr id="1114" name="-40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48900" y="7186612"/>
            <a:ext cx="731043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400" spc="17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Optionally rerank top candidates with a </a:t>
            </a:r>
            <a:r>
              <a:rPr lang="en-US" sz="2400" b="1" spc="17" dirty="0">
                <a:solidFill>
                  <a:srgbClr val="FFFFFF"/>
                </a:solidFill>
                <a:latin typeface="Public Sans" panose="00000700000000000000" pitchFamily="2" charset="0"/>
              </a:rPr>
              <a:t>cross-encoder</a:t>
            </a:r>
            <a:r>
              <a:rPr lang="en-US" sz="2400" spc="17" dirty="0">
                <a:solidFill>
                  <a:srgbClr val="FFFFFF"/>
                </a:solidFill>
                <a:latin typeface="Public Sans" panose="00000700000000000000" pitchFamily="2" charset="0"/>
              </a:rPr>
              <a:t> for higher relevance</a:t>
            </a:r>
          </a:p>
        </p:txBody>
      </p:sp>
      <p:pic>
        <p:nvPicPr>
          <p:cNvPr id="111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9848850" y="7264718"/>
            <a:ext cx="171450" cy="171450"/>
          </a:xfrm>
          <a:prstGeom prst="rect">
            <a:avLst/>
          </a:prstGeom>
        </p:spPr>
      </p:pic>
      <p:sp>
        <p:nvSpPr>
          <p:cNvPr id="1116" name="-44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34550" y="8163306"/>
            <a:ext cx="7824788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 spc="17" dirty="0">
                <a:solidFill>
                  <a:srgbClr val="FFFFFF">
                    <a:alpha val="100000"/>
                  </a:srgbClr>
                </a:solidFill>
                <a:latin typeface="Public Sans" panose="00000700000000000000" pitchFamily="2" charset="0"/>
              </a:rPr>
              <a:t>Deduplicate &amp; Timestamp</a:t>
            </a:r>
          </a:p>
        </p:txBody>
      </p:sp>
      <p:pic>
        <p:nvPicPr>
          <p:cNvPr id="111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9334500" y="8263128"/>
            <a:ext cx="190500" cy="190500"/>
          </a:xfrm>
          <a:prstGeom prst="rect">
            <a:avLst/>
          </a:prstGeom>
        </p:spPr>
      </p:pic>
      <p:sp>
        <p:nvSpPr>
          <p:cNvPr id="111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876300"/>
            <a:ext cx="15806738" cy="628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4872"/>
              </a:lnSpc>
            </a:pPr>
            <a:r>
              <a:rPr lang="en-US" sz="4200" spc="-34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YouTube Lecture System: Ingestion &amp; Search Pipelines</a:t>
            </a:r>
          </a:p>
        </p:txBody>
      </p:sp>
      <p:sp>
        <p:nvSpPr>
          <p:cNvPr id="112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1600200"/>
            <a:ext cx="158067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</a:pPr>
            <a:r>
              <a:rPr lang="en-US" sz="2100" spc="15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End-to-end flow from audio capture to timestamped, re-ranked search results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14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146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3188780"/>
            <a:ext cx="16764000" cy="2143125"/>
          </a:xfrm>
          <a:prstGeom prst="rect">
            <a:avLst/>
          </a:prstGeom>
        </p:spPr>
      </p:pic>
      <p:sp>
        <p:nvSpPr>
          <p:cNvPr id="1147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5742146"/>
            <a:ext cx="3081338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267"/>
              </a:lnSpc>
            </a:pPr>
            <a:r>
              <a:rPr lang="en-US" sz="2700" spc="-32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PDF Extraction</a:t>
            </a:r>
          </a:p>
        </p:txBody>
      </p:sp>
      <p:sp>
        <p:nvSpPr>
          <p:cNvPr id="114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6309455"/>
            <a:ext cx="3081338" cy="1781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Extract pages and images; apply OCR to produce raw text</a:t>
            </a:r>
          </a:p>
        </p:txBody>
      </p:sp>
      <p:sp>
        <p:nvSpPr>
          <p:cNvPr id="1151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267200" y="5742146"/>
            <a:ext cx="3081338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267"/>
              </a:lnSpc>
            </a:pPr>
            <a:r>
              <a:rPr lang="en-US" sz="2700" spc="-32" dirty="0">
                <a:solidFill>
                  <a:srgbClr val="F0F0F0">
                    <a:alpha val="100000"/>
                  </a:srgbClr>
                </a:solidFill>
                <a:latin typeface="Public Sans Medium" panose="00000700000000000000" pitchFamily="2" charset="0"/>
              </a:rPr>
              <a:t>Text Chunking</a:t>
            </a:r>
          </a:p>
        </p:txBody>
      </p:sp>
      <p:sp>
        <p:nvSpPr>
          <p:cNvPr id="1153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267200" y="6309455"/>
            <a:ext cx="3081338" cy="1781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Chunk text with overlap to preserve context for embeddings</a:t>
            </a:r>
          </a:p>
        </p:txBody>
      </p:sp>
      <p:sp>
        <p:nvSpPr>
          <p:cNvPr id="1155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0000" y="5742146"/>
            <a:ext cx="3081338" cy="838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267"/>
              </a:lnSpc>
            </a:pPr>
            <a:r>
              <a:rPr lang="en-US" sz="2700" spc="-32" dirty="0">
                <a:solidFill>
                  <a:srgbClr val="E9E9E9">
                    <a:alpha val="100000"/>
                  </a:srgbClr>
                </a:solidFill>
                <a:latin typeface="Public Sans Medium" panose="00000700000000000000" pitchFamily="2" charset="0"/>
              </a:rPr>
              <a:t>Multimodal Embeddings</a:t>
            </a:r>
          </a:p>
        </p:txBody>
      </p:sp>
      <p:sp>
        <p:nvSpPr>
          <p:cNvPr id="1157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0000" y="6724269"/>
            <a:ext cx="3081338" cy="2219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Generate </a:t>
            </a:r>
            <a:r>
              <a:rPr lang="en-US" sz="2700" b="1" spc="19" dirty="0">
                <a:solidFill>
                  <a:srgbClr val="B8B8B8"/>
                </a:solidFill>
                <a:latin typeface="Public Sans" panose="00000700000000000000" pitchFamily="2" charset="0"/>
              </a:rPr>
              <a:t>OpenAI</a:t>
            </a:r>
            <a:r>
              <a:rPr lang="en-US" sz="2700" spc="19" dirty="0">
                <a:solidFill>
                  <a:srgbClr val="B8B8B8"/>
                </a:solidFill>
                <a:latin typeface="Public Sans" panose="00000700000000000000" pitchFamily="2" charset="0"/>
              </a:rPr>
              <a:t> text embeddings and </a:t>
            </a:r>
            <a:r>
              <a:rPr lang="en-US" sz="2700" b="1" spc="19" dirty="0">
                <a:solidFill>
                  <a:srgbClr val="B8B8B8"/>
                </a:solidFill>
                <a:latin typeface="Public Sans" panose="00000700000000000000" pitchFamily="2" charset="0"/>
              </a:rPr>
              <a:t>CLIP</a:t>
            </a:r>
            <a:r>
              <a:rPr lang="en-US" sz="2700" spc="19" dirty="0">
                <a:solidFill>
                  <a:srgbClr val="B8B8B8"/>
                </a:solidFill>
                <a:latin typeface="Public Sans" panose="00000700000000000000" pitchFamily="2" charset="0"/>
              </a:rPr>
              <a:t> text/image embeddings</a:t>
            </a:r>
          </a:p>
        </p:txBody>
      </p:sp>
      <p:sp>
        <p:nvSpPr>
          <p:cNvPr id="1159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972800" y="5742146"/>
            <a:ext cx="3081338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267"/>
              </a:lnSpc>
            </a:pPr>
            <a:r>
              <a:rPr lang="en-US" sz="2700" spc="-32" dirty="0">
                <a:solidFill>
                  <a:srgbClr val="E2E2E2">
                    <a:alpha val="100000"/>
                  </a:srgbClr>
                </a:solidFill>
                <a:latin typeface="Public Sans Medium" panose="00000700000000000000" pitchFamily="2" charset="0"/>
              </a:rPr>
              <a:t>Index Creation</a:t>
            </a:r>
          </a:p>
        </p:txBody>
      </p:sp>
      <p:sp>
        <p:nvSpPr>
          <p:cNvPr id="1161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972800" y="6309455"/>
            <a:ext cx="3081338" cy="1781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Build multiple </a:t>
            </a:r>
            <a:r>
              <a:rPr lang="en-US" sz="2700" b="1" spc="19" dirty="0">
                <a:solidFill>
                  <a:srgbClr val="B8B8B8"/>
                </a:solidFill>
                <a:latin typeface="Public Sans" panose="00000700000000000000" pitchFamily="2" charset="0"/>
              </a:rPr>
              <a:t>FAISS</a:t>
            </a:r>
            <a:r>
              <a:rPr lang="en-US" sz="2700" spc="19" dirty="0">
                <a:solidFill>
                  <a:srgbClr val="B8B8B8"/>
                </a:solidFill>
                <a:latin typeface="Public Sans" panose="00000700000000000000" pitchFamily="2" charset="0"/>
              </a:rPr>
              <a:t> indexes and a </a:t>
            </a:r>
            <a:r>
              <a:rPr lang="en-US" sz="2700" b="1" spc="19" dirty="0">
                <a:solidFill>
                  <a:srgbClr val="B8B8B8"/>
                </a:solidFill>
                <a:latin typeface="Public Sans" panose="00000700000000000000" pitchFamily="2" charset="0"/>
              </a:rPr>
              <a:t>BM25</a:t>
            </a:r>
            <a:r>
              <a:rPr lang="en-US" sz="2700" spc="19" dirty="0">
                <a:solidFill>
                  <a:srgbClr val="B8B8B8"/>
                </a:solidFill>
                <a:latin typeface="Public Sans" panose="00000700000000000000" pitchFamily="2" charset="0"/>
              </a:rPr>
              <a:t> corpus for hybrid retrieval</a:t>
            </a:r>
          </a:p>
        </p:txBody>
      </p:sp>
      <p:sp>
        <p:nvSpPr>
          <p:cNvPr id="1163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325600" y="5742146"/>
            <a:ext cx="3081338" cy="838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267"/>
              </a:lnSpc>
            </a:pPr>
            <a:r>
              <a:rPr lang="en-US" sz="2700" spc="-32" dirty="0">
                <a:solidFill>
                  <a:srgbClr val="DBDBDB">
                    <a:alpha val="100000"/>
                  </a:srgbClr>
                </a:solidFill>
                <a:latin typeface="Public Sans Medium" panose="00000700000000000000" pitchFamily="2" charset="0"/>
              </a:rPr>
              <a:t>Metadata Management</a:t>
            </a:r>
          </a:p>
        </p:txBody>
      </p:sp>
      <p:sp>
        <p:nvSpPr>
          <p:cNvPr id="1165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325600" y="6724269"/>
            <a:ext cx="3081338" cy="2219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Attach metadata for chunks and images to support filtering and provenance</a:t>
            </a:r>
          </a:p>
        </p:txBody>
      </p:sp>
      <p:sp>
        <p:nvSpPr>
          <p:cNvPr id="116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879920"/>
            <a:ext cx="158067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sz="4800" spc="-38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PDF Ingestion → Hybrid Retrieval Pipeline</a:t>
            </a:r>
          </a:p>
        </p:txBody>
      </p:sp>
      <p:sp>
        <p:nvSpPr>
          <p:cNvPr id="116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1714500"/>
            <a:ext cx="15806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Convert PDFs into searchable multimodal vectors with metadata-aware indexes for retrieval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17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176" name="pyramid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  <a:extLst>
              <a:ext uri="{A6AEB319-847A-4D2A-AA02-51E0B6306F48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857250" y="3486150"/>
            <a:ext cx="16668750" cy="1333500"/>
          </a:xfrm>
          <a:prstGeom prst="rect">
            <a:avLst/>
          </a:prstGeom>
        </p:spPr>
      </p:pic>
      <p:sp>
        <p:nvSpPr>
          <p:cNvPr id="1177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333625" y="3838575"/>
            <a:ext cx="566738" cy="533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4200" dirty="0">
                <a:solidFill>
                  <a:srgbClr val="000000">
                    <a:alpha val="100000"/>
                  </a:srgbClr>
                </a:solidFill>
                <a:latin typeface="Public Sans SemiBold" panose="00000700000000000000" pitchFamily="2" charset="0"/>
              </a:rPr>
              <a:t>1</a:t>
            </a:r>
          </a:p>
        </p:txBody>
      </p:sp>
      <p:sp>
        <p:nvSpPr>
          <p:cNvPr id="1179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5124450"/>
            <a:ext cx="2947988" cy="838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700" spc="-32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Query Type Detection</a:t>
            </a:r>
          </a:p>
        </p:txBody>
      </p:sp>
      <p:sp>
        <p:nvSpPr>
          <p:cNvPr id="1181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6068378"/>
            <a:ext cx="2947988" cy="1781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Identify query as </a:t>
            </a:r>
            <a:r>
              <a:rPr lang="en-US" sz="2700" b="1" spc="19" dirty="0">
                <a:solidFill>
                  <a:srgbClr val="B8B8B8"/>
                </a:solidFill>
                <a:latin typeface="Public Sans" panose="00000700000000000000" pitchFamily="2" charset="0"/>
              </a:rPr>
              <a:t>text</a:t>
            </a:r>
            <a:r>
              <a:rPr lang="en-US" sz="2700" spc="19" dirty="0">
                <a:solidFill>
                  <a:srgbClr val="B8B8B8"/>
                </a:solidFill>
                <a:latin typeface="Public Sans" panose="00000700000000000000" pitchFamily="2" charset="0"/>
              </a:rPr>
              <a:t>, </a:t>
            </a:r>
            <a:r>
              <a:rPr lang="en-US" sz="2700" b="1" spc="19" dirty="0">
                <a:solidFill>
                  <a:srgbClr val="B8B8B8"/>
                </a:solidFill>
                <a:latin typeface="Public Sans" panose="00000700000000000000" pitchFamily="2" charset="0"/>
              </a:rPr>
              <a:t>image</a:t>
            </a:r>
            <a:r>
              <a:rPr lang="en-US" sz="2700" spc="19" dirty="0">
                <a:solidFill>
                  <a:srgbClr val="B8B8B8"/>
                </a:solidFill>
                <a:latin typeface="Public Sans" panose="00000700000000000000" pitchFamily="2" charset="0"/>
              </a:rPr>
              <a:t>, or </a:t>
            </a:r>
            <a:r>
              <a:rPr lang="en-US" sz="2700" b="1" spc="19" dirty="0">
                <a:solidFill>
                  <a:srgbClr val="B8B8B8"/>
                </a:solidFill>
                <a:latin typeface="Public Sans" panose="00000700000000000000" pitchFamily="2" charset="0"/>
              </a:rPr>
              <a:t>multimodal</a:t>
            </a:r>
            <a:r>
              <a:rPr lang="en-US" sz="2700" spc="19" dirty="0">
                <a:solidFill>
                  <a:srgbClr val="B8B8B8"/>
                </a:solidFill>
                <a:latin typeface="Public Sans" panose="00000700000000000000" pitchFamily="2" charset="0"/>
              </a:rPr>
              <a:t> to route processing</a:t>
            </a:r>
          </a:p>
        </p:txBody>
      </p:sp>
      <p:sp>
        <p:nvSpPr>
          <p:cNvPr id="1183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629275" y="3838575"/>
            <a:ext cx="566738" cy="533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4200" dirty="0">
                <a:solidFill>
                  <a:srgbClr val="000000">
                    <a:alpha val="100000"/>
                  </a:srgbClr>
                </a:solidFill>
                <a:latin typeface="Public Sans SemiBold" panose="00000700000000000000" pitchFamily="2" charset="0"/>
              </a:rPr>
              <a:t>2</a:t>
            </a:r>
          </a:p>
        </p:txBody>
      </p:sp>
      <p:sp>
        <p:nvSpPr>
          <p:cNvPr id="118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248150" y="5124450"/>
            <a:ext cx="2947988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700" spc="-32" dirty="0">
                <a:solidFill>
                  <a:srgbClr val="F0F0F0">
                    <a:alpha val="100000"/>
                  </a:srgbClr>
                </a:solidFill>
                <a:latin typeface="Public Sans Medium" panose="00000700000000000000" pitchFamily="2" charset="0"/>
              </a:rPr>
              <a:t>Hybrid Retrieval</a:t>
            </a:r>
          </a:p>
        </p:txBody>
      </p:sp>
      <p:sp>
        <p:nvSpPr>
          <p:cNvPr id="118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248150" y="5653564"/>
            <a:ext cx="2947988" cy="2667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Run dense retrieval across multiple </a:t>
            </a:r>
            <a:r>
              <a:rPr lang="en-US" sz="2700" b="1" spc="19" dirty="0">
                <a:solidFill>
                  <a:srgbClr val="B8B8B8"/>
                </a:solidFill>
                <a:latin typeface="Public Sans" panose="00000700000000000000" pitchFamily="2" charset="0"/>
              </a:rPr>
              <a:t>FAISS</a:t>
            </a:r>
            <a:r>
              <a:rPr lang="en-US" sz="2700" spc="19" dirty="0">
                <a:solidFill>
                  <a:srgbClr val="B8B8B8"/>
                </a:solidFill>
                <a:latin typeface="Public Sans" panose="00000700000000000000" pitchFamily="2" charset="0"/>
              </a:rPr>
              <a:t> indexes and sparse retrieval via </a:t>
            </a:r>
            <a:r>
              <a:rPr lang="en-US" sz="2700" b="1" spc="19" dirty="0">
                <a:solidFill>
                  <a:srgbClr val="B8B8B8"/>
                </a:solidFill>
                <a:latin typeface="Public Sans" panose="00000700000000000000" pitchFamily="2" charset="0"/>
              </a:rPr>
              <a:t>BM25</a:t>
            </a:r>
          </a:p>
        </p:txBody>
      </p:sp>
      <p:sp>
        <p:nvSpPr>
          <p:cNvPr id="1189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924925" y="3838575"/>
            <a:ext cx="566738" cy="533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4200" dirty="0">
                <a:solidFill>
                  <a:srgbClr val="000000">
                    <a:alpha val="100000"/>
                  </a:srgbClr>
                </a:solidFill>
                <a:latin typeface="Public Sans SemiBold" panose="00000700000000000000" pitchFamily="2" charset="0"/>
              </a:rPr>
              <a:t>3</a:t>
            </a:r>
          </a:p>
        </p:txBody>
      </p:sp>
      <p:sp>
        <p:nvSpPr>
          <p:cNvPr id="1191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43800" y="5124450"/>
            <a:ext cx="2947988" cy="838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700" spc="-32" dirty="0">
                <a:solidFill>
                  <a:srgbClr val="E9E9E9">
                    <a:alpha val="100000"/>
                  </a:srgbClr>
                </a:solidFill>
                <a:latin typeface="Public Sans Medium" panose="00000700000000000000" pitchFamily="2" charset="0"/>
              </a:rPr>
              <a:t>Reciprocal Rank Fusion</a:t>
            </a:r>
          </a:p>
        </p:txBody>
      </p:sp>
      <p:sp>
        <p:nvSpPr>
          <p:cNvPr id="1193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43800" y="6068378"/>
            <a:ext cx="2947988" cy="2667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Combine dense and sparse results using </a:t>
            </a:r>
            <a:r>
              <a:rPr lang="en-US" sz="2700" b="1" spc="19" dirty="0">
                <a:solidFill>
                  <a:srgbClr val="B8B8B8"/>
                </a:solidFill>
                <a:latin typeface="Public Sans" panose="00000700000000000000" pitchFamily="2" charset="0"/>
              </a:rPr>
              <a:t>Reciprocal Rank Fusion</a:t>
            </a:r>
            <a:r>
              <a:rPr lang="en-US" sz="2700" spc="19" dirty="0">
                <a:solidFill>
                  <a:srgbClr val="B8B8B8"/>
                </a:solidFill>
                <a:latin typeface="Public Sans" panose="00000700000000000000" pitchFamily="2" charset="0"/>
              </a:rPr>
              <a:t> for unified ranking</a:t>
            </a:r>
          </a:p>
        </p:txBody>
      </p:sp>
      <p:sp>
        <p:nvSpPr>
          <p:cNvPr id="1195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20575" y="3838575"/>
            <a:ext cx="566738" cy="533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4200" dirty="0">
                <a:solidFill>
                  <a:srgbClr val="000000">
                    <a:alpha val="100000"/>
                  </a:srgbClr>
                </a:solidFill>
                <a:latin typeface="Public Sans SemiBold" panose="00000700000000000000" pitchFamily="2" charset="0"/>
              </a:rPr>
              <a:t>4</a:t>
            </a:r>
          </a:p>
        </p:txBody>
      </p:sp>
      <p:sp>
        <p:nvSpPr>
          <p:cNvPr id="1197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839450" y="5124450"/>
            <a:ext cx="2947988" cy="838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700" spc="-32" dirty="0">
                <a:solidFill>
                  <a:srgbClr val="E2E2E2">
                    <a:alpha val="100000"/>
                  </a:srgbClr>
                </a:solidFill>
                <a:latin typeface="Public Sans Medium" panose="00000700000000000000" pitchFamily="2" charset="0"/>
              </a:rPr>
              <a:t>Answer Generation</a:t>
            </a:r>
          </a:p>
        </p:txBody>
      </p:sp>
      <p:sp>
        <p:nvSpPr>
          <p:cNvPr id="1199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839450" y="6068378"/>
            <a:ext cx="2947988" cy="3105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b="1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GPT-4o-mini</a:t>
            </a:r>
            <a:r>
              <a:rPr lang="en-US" sz="2700" spc="19" dirty="0">
                <a:solidFill>
                  <a:srgbClr val="B8B8B8"/>
                </a:solidFill>
                <a:latin typeface="Public Sans" panose="00000700000000000000" pitchFamily="2" charset="0"/>
              </a:rPr>
              <a:t> generates context-aware, citation-rich answers with confidence scoring</a:t>
            </a:r>
          </a:p>
        </p:txBody>
      </p:sp>
      <p:sp>
        <p:nvSpPr>
          <p:cNvPr id="1201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516225" y="3838575"/>
            <a:ext cx="566738" cy="533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4200" dirty="0">
                <a:solidFill>
                  <a:srgbClr val="FFFFFF">
                    <a:alpha val="60000"/>
                  </a:srgbClr>
                </a:solidFill>
                <a:latin typeface="Public Sans SemiBold" panose="00000700000000000000" pitchFamily="2" charset="0"/>
              </a:rPr>
              <a:t>5</a:t>
            </a:r>
          </a:p>
        </p:txBody>
      </p:sp>
      <p:sp>
        <p:nvSpPr>
          <p:cNvPr id="1203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35100" y="5124450"/>
            <a:ext cx="2947988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700" spc="-32" dirty="0">
                <a:solidFill>
                  <a:srgbClr val="DBDBDB">
                    <a:alpha val="100000"/>
                  </a:srgbClr>
                </a:solidFill>
                <a:latin typeface="Public Sans Medium" panose="00000700000000000000" pitchFamily="2" charset="0"/>
              </a:rPr>
              <a:t>Logging &amp; Display</a:t>
            </a:r>
          </a:p>
        </p:txBody>
      </p:sp>
      <p:sp>
        <p:nvSpPr>
          <p:cNvPr id="1205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35100" y="5653564"/>
            <a:ext cx="2947988" cy="2667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Log all interactions and display citations, confidence, and results to students</a:t>
            </a:r>
          </a:p>
        </p:txBody>
      </p:sp>
      <p:sp>
        <p:nvSpPr>
          <p:cNvPr id="120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879920"/>
            <a:ext cx="158067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sz="4800" spc="-38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RAG Query Processing Pipeline</a:t>
            </a:r>
          </a:p>
        </p:txBody>
      </p:sp>
      <p:sp>
        <p:nvSpPr>
          <p:cNvPr id="120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1714500"/>
            <a:ext cx="15806738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870"/>
              </a:lnSpc>
            </a:pPr>
            <a:r>
              <a:rPr lang="en-US" sz="3000" spc="21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From query type detection to citation-rich, confidence-scored answers displayed to students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5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592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593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13380" y="8088440"/>
            <a:ext cx="81867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100" b="1" spc="-25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YouTube retrieval</a:t>
            </a:r>
          </a:p>
        </p:txBody>
      </p:sp>
      <p:sp>
        <p:nvSpPr>
          <p:cNvPr id="1594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13380" y="8563451"/>
            <a:ext cx="8186738" cy="600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22"/>
              </a:lnSpc>
            </a:pPr>
            <a:r>
              <a:rPr lang="en-US" sz="1800" spc="13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FAISS IVFFlat with </a:t>
            </a:r>
            <a:r>
              <a:rPr lang="en-US" sz="1800" b="1" spc="13" dirty="0">
                <a:solidFill>
                  <a:srgbClr val="B8B8B8"/>
                </a:solidFill>
                <a:latin typeface="Public Sans" panose="00000700000000000000" pitchFamily="2" charset="0"/>
              </a:rPr>
              <a:t>cosine similarity</a:t>
            </a:r>
            <a:r>
              <a:rPr lang="en-US" sz="1800" spc="13" dirty="0">
                <a:solidFill>
                  <a:srgbClr val="B8B8B8"/>
                </a:solidFill>
                <a:latin typeface="Public Sans" panose="00000700000000000000" pitchFamily="2" charset="0"/>
              </a:rPr>
              <a:t> plus phrase bonuses, token overlap, semantic signals and recency weighting</a:t>
            </a:r>
          </a:p>
        </p:txBody>
      </p:sp>
      <p:sp>
        <p:nvSpPr>
          <p:cNvPr id="159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98299" y="5622608"/>
            <a:ext cx="54054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100" b="1" spc="-25" dirty="0">
                <a:solidFill>
                  <a:srgbClr val="F0F0F0">
                    <a:alpha val="100000"/>
                  </a:srgbClr>
                </a:solidFill>
                <a:latin typeface="Public Sans Medium" panose="00000700000000000000" pitchFamily="2" charset="0"/>
              </a:rPr>
              <a:t>RAG hybrid retrieval</a:t>
            </a:r>
          </a:p>
        </p:txBody>
      </p:sp>
      <p:sp>
        <p:nvSpPr>
          <p:cNvPr id="1596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98299" y="6097714"/>
            <a:ext cx="5405438" cy="895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22"/>
              </a:lnSpc>
            </a:pPr>
            <a:r>
              <a:rPr lang="en-US" sz="1800" spc="13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Multiple FAISS dense indexes combined with </a:t>
            </a:r>
            <a:r>
              <a:rPr lang="en-US" sz="1800" b="1" spc="13" dirty="0">
                <a:solidFill>
                  <a:srgbClr val="B8B8B8"/>
                </a:solidFill>
                <a:latin typeface="Public Sans" panose="00000700000000000000" pitchFamily="2" charset="0"/>
              </a:rPr>
              <a:t>BM25</a:t>
            </a:r>
            <a:r>
              <a:rPr lang="en-US" sz="1800" spc="13" dirty="0">
                <a:solidFill>
                  <a:srgbClr val="B8B8B8"/>
                </a:solidFill>
                <a:latin typeface="Public Sans" panose="00000700000000000000" pitchFamily="2" charset="0"/>
              </a:rPr>
              <a:t> sparse retrieval; Reciprocal Rank Fusion for robustness</a:t>
            </a:r>
          </a:p>
        </p:txBody>
      </p:sp>
      <p:sp>
        <p:nvSpPr>
          <p:cNvPr id="1597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841206" y="3244215"/>
            <a:ext cx="54054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41"/>
              </a:lnSpc>
            </a:pPr>
            <a:r>
              <a:rPr lang="en-US" sz="2100" b="1" spc="-25" dirty="0">
                <a:solidFill>
                  <a:srgbClr val="E9E9E9">
                    <a:alpha val="100000"/>
                  </a:srgbClr>
                </a:solidFill>
                <a:latin typeface="Public Sans Medium" panose="00000700000000000000" pitchFamily="2" charset="0"/>
              </a:rPr>
              <a:t>Multi‑factor ranking</a:t>
            </a:r>
          </a:p>
        </p:txBody>
      </p:sp>
      <p:sp>
        <p:nvSpPr>
          <p:cNvPr id="1598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841206" y="3719322"/>
            <a:ext cx="5405438" cy="895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322"/>
              </a:lnSpc>
            </a:pPr>
            <a:r>
              <a:rPr lang="en-US" sz="1800" spc="13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Score aggregation from semantic similarity, phrase match bonuses, token overlap and recency adjustments</a:t>
            </a:r>
          </a:p>
        </p:txBody>
      </p:sp>
      <p:sp>
        <p:nvSpPr>
          <p:cNvPr id="1599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833396" y="1133570"/>
            <a:ext cx="81676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41"/>
              </a:lnSpc>
            </a:pPr>
            <a:r>
              <a:rPr lang="en-US" sz="2100" b="1" spc="-25" dirty="0">
                <a:solidFill>
                  <a:srgbClr val="E2E2E2">
                    <a:alpha val="100000"/>
                  </a:srgbClr>
                </a:solidFill>
                <a:latin typeface="Public Sans Medium" panose="00000700000000000000" pitchFamily="2" charset="0"/>
              </a:rPr>
              <a:t>Adaptive weighting</a:t>
            </a:r>
          </a:p>
        </p:txBody>
      </p:sp>
      <p:sp>
        <p:nvSpPr>
          <p:cNvPr id="1600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833396" y="1608677"/>
            <a:ext cx="8167688" cy="600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322"/>
              </a:lnSpc>
            </a:pPr>
            <a:r>
              <a:rPr lang="en-US" sz="1800" spc="13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Dynamic score weights adjusted by query type to prioritize relevance signals</a:t>
            </a:r>
          </a:p>
        </p:txBody>
      </p:sp>
      <p:sp>
        <p:nvSpPr>
          <p:cNvPr id="1601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100" y="3657600"/>
            <a:ext cx="3881438" cy="1866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872"/>
              </a:lnSpc>
            </a:pPr>
            <a:r>
              <a:rPr lang="en-US" sz="4200" spc="-34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Hybrid Search &amp; Multi‑Factor Ranking</a:t>
            </a:r>
          </a:p>
        </p:txBody>
      </p:sp>
      <p:sp>
        <p:nvSpPr>
          <p:cNvPr id="1603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100" y="5676900"/>
            <a:ext cx="3881438" cy="8858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22"/>
              </a:lnSpc>
            </a:pPr>
            <a:r>
              <a:rPr lang="en-US" sz="1800" spc="13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How YouTube and RAG combine dense and sparse retrieval with adaptive weighting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5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425669"/>
            <a:ext cx="18288000" cy="10287000"/>
          </a:xfrm>
          <a:prstGeom prst="rect">
            <a:avLst/>
          </a:prstGeom>
        </p:spPr>
      </p:pic>
      <p:pic>
        <p:nvPicPr>
          <p:cNvPr id="15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62000" y="2476500"/>
            <a:ext cx="3619500" cy="476250"/>
          </a:xfrm>
          <a:prstGeom prst="rect">
            <a:avLst/>
          </a:prstGeom>
          <a:effectLst>
            <a:outerShdw blurRad="28575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1545" name="Primary Heading-0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2552700"/>
            <a:ext cx="32718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100" spc="-25" dirty="0">
                <a:solidFill>
                  <a:srgbClr val="000000">
                    <a:alpha val="100000"/>
                  </a:srgbClr>
                </a:solidFill>
                <a:latin typeface="Public Sans Medium" panose="00000700000000000000" pitchFamily="2" charset="0"/>
              </a:rPr>
              <a:t>Transcription</a:t>
            </a:r>
          </a:p>
        </p:txBody>
      </p:sp>
      <p:sp>
        <p:nvSpPr>
          <p:cNvPr id="1547" name="Primary Heading-0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000" y="3218307"/>
            <a:ext cx="365283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100" b="1" spc="-25" dirty="0">
                <a:solidFill>
                  <a:srgbClr val="F0F0F0">
                    <a:alpha val="100000"/>
                  </a:srgbClr>
                </a:solidFill>
                <a:latin typeface="Public Sans Medium" panose="00000700000000000000" pitchFamily="2" charset="0"/>
              </a:rPr>
              <a:t>OpenAI Whisper</a:t>
            </a:r>
            <a:r>
              <a:rPr lang="en-US" sz="2100" spc="-25" dirty="0">
                <a:solidFill>
                  <a:srgbClr val="F0F0F0"/>
                </a:solidFill>
                <a:latin typeface="Public Sans Medium" panose="00000700000000000000" pitchFamily="2" charset="0"/>
              </a:rPr>
              <a:t> — speech-to-text transcription</a:t>
            </a:r>
          </a:p>
        </p:txBody>
      </p:sp>
      <p:pic>
        <p:nvPicPr>
          <p:cNvPr id="15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62000" y="3920580"/>
            <a:ext cx="3619500" cy="19050"/>
          </a:xfrm>
          <a:prstGeom prst="rect">
            <a:avLst/>
          </a:prstGeom>
        </p:spPr>
      </p:pic>
      <p:pic>
        <p:nvPicPr>
          <p:cNvPr id="15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5143500" y="2476500"/>
            <a:ext cx="3619500" cy="476250"/>
          </a:xfrm>
          <a:prstGeom prst="rect">
            <a:avLst/>
          </a:prstGeom>
          <a:effectLst>
            <a:outerShdw blurRad="28575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1553" name="Primary Heading-1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334000" y="2552700"/>
            <a:ext cx="32718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100" spc="-25" dirty="0">
                <a:solidFill>
                  <a:srgbClr val="000000">
                    <a:alpha val="100000"/>
                  </a:srgbClr>
                </a:solidFill>
                <a:latin typeface="Public Sans Medium" panose="00000700000000000000" pitchFamily="2" charset="0"/>
              </a:rPr>
              <a:t>Embeddings</a:t>
            </a:r>
          </a:p>
        </p:txBody>
      </p:sp>
      <p:sp>
        <p:nvSpPr>
          <p:cNvPr id="1555" name="Primary Heading-1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143500" y="3218307"/>
            <a:ext cx="365283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100" b="1" spc="-25" dirty="0">
                <a:solidFill>
                  <a:srgbClr val="F0F0F0">
                    <a:alpha val="100000"/>
                  </a:srgbClr>
                </a:solidFill>
                <a:latin typeface="Public Sans Medium" panose="00000700000000000000" pitchFamily="2" charset="0"/>
              </a:rPr>
              <a:t>SentenceTransformers</a:t>
            </a:r>
            <a:r>
              <a:rPr lang="en-US" sz="2100" spc="-25" dirty="0">
                <a:solidFill>
                  <a:srgbClr val="F0F0F0"/>
                </a:solidFill>
                <a:latin typeface="Public Sans Medium" panose="00000700000000000000" pitchFamily="2" charset="0"/>
              </a:rPr>
              <a:t> — YouTube text embeddings</a:t>
            </a:r>
          </a:p>
        </p:txBody>
      </p:sp>
      <p:pic>
        <p:nvPicPr>
          <p:cNvPr id="15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5143500" y="3920680"/>
            <a:ext cx="3619500" cy="19050"/>
          </a:xfrm>
          <a:prstGeom prst="rect">
            <a:avLst/>
          </a:prstGeom>
        </p:spPr>
      </p:pic>
      <p:sp>
        <p:nvSpPr>
          <p:cNvPr id="1559" name="Primary Heading-1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143500" y="4263580"/>
            <a:ext cx="365283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100" b="1" spc="-25" dirty="0">
                <a:solidFill>
                  <a:srgbClr val="E9E9E9">
                    <a:alpha val="100000"/>
                  </a:srgbClr>
                </a:solidFill>
                <a:latin typeface="Public Sans Medium" panose="00000700000000000000" pitchFamily="2" charset="0"/>
              </a:rPr>
              <a:t>OpenAI text-embedding-3-large</a:t>
            </a:r>
            <a:r>
              <a:rPr lang="en-US" sz="2100" spc="-25" dirty="0">
                <a:solidFill>
                  <a:srgbClr val="E9E9E9"/>
                </a:solidFill>
                <a:latin typeface="Public Sans Medium" panose="00000700000000000000" pitchFamily="2" charset="0"/>
              </a:rPr>
              <a:t> — RAG text chunks</a:t>
            </a:r>
          </a:p>
        </p:txBody>
      </p:sp>
      <p:pic>
        <p:nvPicPr>
          <p:cNvPr id="15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5143500" y="4966097"/>
            <a:ext cx="3619500" cy="19050"/>
          </a:xfrm>
          <a:prstGeom prst="rect">
            <a:avLst/>
          </a:prstGeom>
        </p:spPr>
      </p:pic>
      <p:pic>
        <p:nvPicPr>
          <p:cNvPr id="15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tretch/>
        </p:blipFill>
        <p:spPr>
          <a:xfrm>
            <a:off x="9525000" y="2476500"/>
            <a:ext cx="3619500" cy="476250"/>
          </a:xfrm>
          <a:prstGeom prst="rect">
            <a:avLst/>
          </a:prstGeom>
          <a:effectLst>
            <a:outerShdw blurRad="28575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1565" name="Primary Heading-2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15500" y="2552700"/>
            <a:ext cx="32718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100" spc="-25" dirty="0">
                <a:solidFill>
                  <a:srgbClr val="000000">
                    <a:alpha val="100000"/>
                  </a:srgbClr>
                </a:solidFill>
                <a:latin typeface="Public Sans Medium" panose="00000700000000000000" pitchFamily="2" charset="0"/>
              </a:rPr>
              <a:t>Reranking &amp; Retrieval</a:t>
            </a:r>
          </a:p>
        </p:txBody>
      </p:sp>
      <p:sp>
        <p:nvSpPr>
          <p:cNvPr id="1567" name="Primary Heading-2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0" y="3218307"/>
            <a:ext cx="365283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100" b="1" spc="-25" dirty="0">
                <a:solidFill>
                  <a:srgbClr val="E9E9E9">
                    <a:alpha val="100000"/>
                  </a:srgbClr>
                </a:solidFill>
                <a:latin typeface="Public Sans Medium" panose="00000700000000000000" pitchFamily="2" charset="0"/>
              </a:rPr>
              <a:t>CLIP</a:t>
            </a:r>
            <a:r>
              <a:rPr lang="en-US" sz="2100" spc="-25" dirty="0">
                <a:solidFill>
                  <a:srgbClr val="E9E9E9"/>
                </a:solidFill>
                <a:latin typeface="Public Sans Medium" panose="00000700000000000000" pitchFamily="2" charset="0"/>
              </a:rPr>
              <a:t> — multimodal image-text retrieval</a:t>
            </a:r>
          </a:p>
        </p:txBody>
      </p:sp>
      <p:pic>
        <p:nvPicPr>
          <p:cNvPr id="15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9525000" y="3920680"/>
            <a:ext cx="3619500" cy="19050"/>
          </a:xfrm>
          <a:prstGeom prst="rect">
            <a:avLst/>
          </a:prstGeom>
        </p:spPr>
      </p:pic>
      <p:sp>
        <p:nvSpPr>
          <p:cNvPr id="1571" name="Primary Heading-2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0" y="4263580"/>
            <a:ext cx="36528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100" b="1" spc="-25" dirty="0">
                <a:solidFill>
                  <a:srgbClr val="E9E9E9">
                    <a:alpha val="100000"/>
                  </a:srgbClr>
                </a:solidFill>
                <a:latin typeface="Public Sans Medium" panose="00000700000000000000" pitchFamily="2" charset="0"/>
              </a:rPr>
              <a:t>Cross-Encoder</a:t>
            </a:r>
            <a:r>
              <a:rPr lang="en-US" sz="2100" spc="-25" dirty="0">
                <a:solidFill>
                  <a:srgbClr val="E9E9E9"/>
                </a:solidFill>
                <a:latin typeface="Public Sans Medium" panose="00000700000000000000" pitchFamily="2" charset="0"/>
              </a:rPr>
              <a:t> — reranking</a:t>
            </a:r>
          </a:p>
        </p:txBody>
      </p:sp>
      <p:pic>
        <p:nvPicPr>
          <p:cNvPr id="157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9525000" y="4643438"/>
            <a:ext cx="3619500" cy="19050"/>
          </a:xfrm>
          <a:prstGeom prst="rect">
            <a:avLst/>
          </a:prstGeom>
        </p:spPr>
      </p:pic>
      <p:pic>
        <p:nvPicPr>
          <p:cNvPr id="15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/>
          </a:blip>
          <a:stretch/>
        </p:blipFill>
        <p:spPr>
          <a:xfrm>
            <a:off x="13906500" y="2476500"/>
            <a:ext cx="3619500" cy="476250"/>
          </a:xfrm>
          <a:prstGeom prst="rect">
            <a:avLst/>
          </a:prstGeom>
          <a:effectLst>
            <a:outerShdw blurRad="28575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1577" name="Primary Heading-3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097000" y="2552700"/>
            <a:ext cx="32718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100" spc="-25" dirty="0">
                <a:solidFill>
                  <a:srgbClr val="000000">
                    <a:alpha val="100000"/>
                  </a:srgbClr>
                </a:solidFill>
                <a:latin typeface="Public Sans Medium" panose="00000700000000000000" pitchFamily="2" charset="0"/>
              </a:rPr>
              <a:t>Generation</a:t>
            </a:r>
          </a:p>
        </p:txBody>
      </p:sp>
      <p:sp>
        <p:nvSpPr>
          <p:cNvPr id="1579" name="Primary Heading-3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906500" y="3218307"/>
            <a:ext cx="3652838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100" b="1" spc="-25" dirty="0">
                <a:solidFill>
                  <a:srgbClr val="E2E2E2">
                    <a:alpha val="100000"/>
                  </a:srgbClr>
                </a:solidFill>
                <a:latin typeface="Public Sans Medium" panose="00000700000000000000" pitchFamily="2" charset="0"/>
              </a:rPr>
              <a:t>GPT-4o-mini</a:t>
            </a:r>
            <a:r>
              <a:rPr lang="en-US" sz="2100" spc="-25" dirty="0">
                <a:solidFill>
                  <a:srgbClr val="E2E2E2"/>
                </a:solidFill>
                <a:latin typeface="Public Sans Medium" panose="00000700000000000000" pitchFamily="2" charset="0"/>
              </a:rPr>
              <a:t> — natural language answer generation with citation enforcement</a:t>
            </a:r>
          </a:p>
        </p:txBody>
      </p:sp>
      <p:pic>
        <p:nvPicPr>
          <p:cNvPr id="15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</a:blip>
          <a:stretch/>
        </p:blipFill>
        <p:spPr>
          <a:xfrm>
            <a:off x="13906500" y="4243388"/>
            <a:ext cx="3619500" cy="19050"/>
          </a:xfrm>
          <a:prstGeom prst="rect">
            <a:avLst/>
          </a:prstGeom>
        </p:spPr>
      </p:pic>
      <p:sp>
        <p:nvSpPr>
          <p:cNvPr id="158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876300"/>
            <a:ext cx="15806738" cy="628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4872"/>
              </a:lnSpc>
            </a:pPr>
            <a:r>
              <a:rPr lang="en-US" sz="4200" spc="-34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AI Models Powering SmartTA</a:t>
            </a:r>
          </a:p>
        </p:txBody>
      </p:sp>
      <p:sp>
        <p:nvSpPr>
          <p:cNvPr id="158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1740598"/>
            <a:ext cx="15806738" cy="3048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322"/>
              </a:lnSpc>
            </a:pPr>
            <a:r>
              <a:rPr lang="en-US" sz="2800" spc="13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Mapping each model to its core function for reliable multimodal retrieval and answers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21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876300"/>
            <a:ext cx="15806738" cy="628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4872"/>
              </a:lnSpc>
            </a:pPr>
            <a:r>
              <a:rPr lang="en-US" sz="4200" spc="-34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RAG System: Key Backend Components And Architecture</a:t>
            </a:r>
          </a:p>
        </p:txBody>
      </p:sp>
      <p:sp>
        <p:nvSpPr>
          <p:cNvPr id="121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" y="1600200"/>
            <a:ext cx="15806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Responsibilities in retrieval pipeline and student-facing chat interface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5020AB-5071-40EB-BC98-015612646C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061" y="2381250"/>
            <a:ext cx="14028859" cy="663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0621B-D4EA-3156-4B18-6D252AFC9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3" name="Rect">
            <a:extLst>
              <a:ext uri="{FF2B5EF4-FFF2-40B4-BE49-F238E27FC236}">
                <a16:creationId xmlns:a16="http://schemas.microsoft.com/office/drawing/2014/main" id="{A9FC26F0-8EC3-D519-AF63-1E5801BC72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214" name="Title 3">
            <a:extLst>
              <a:ext uri="{FF2B5EF4-FFF2-40B4-BE49-F238E27FC236}">
                <a16:creationId xmlns:a16="http://schemas.microsoft.com/office/drawing/2014/main" id="{59149B21-E0D3-5EF4-FBD6-42AC7EB5C7E2}"/>
              </a:ext>
            </a:extLst>
          </p:cNvPr>
          <p:cNvSpPr txBox="1"/>
          <p:nvPr/>
        </p:nvSpPr>
        <p:spPr>
          <a:xfrm>
            <a:off x="1240631" y="485912"/>
            <a:ext cx="15806738" cy="62837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4872"/>
              </a:lnSpc>
            </a:pPr>
            <a:r>
              <a:rPr lang="en-US" sz="4200" spc="-34" dirty="0" err="1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SmartTA</a:t>
            </a:r>
            <a:r>
              <a:rPr lang="en-US" sz="4200" spc="-34" dirty="0">
                <a:solidFill>
                  <a:srgbClr val="FFFFFF">
                    <a:alpha val="100000"/>
                  </a:srgbClr>
                </a:solidFill>
                <a:latin typeface="Public Sans Medium" panose="00000700000000000000" pitchFamily="2" charset="0"/>
              </a:rPr>
              <a:t>: Unified System Architecture</a:t>
            </a:r>
          </a:p>
        </p:txBody>
      </p:sp>
      <p:sp>
        <p:nvSpPr>
          <p:cNvPr id="1216" name="SubTitle">
            <a:extLst>
              <a:ext uri="{FF2B5EF4-FFF2-40B4-BE49-F238E27FC236}">
                <a16:creationId xmlns:a16="http://schemas.microsoft.com/office/drawing/2014/main" id="{30B6C166-E12D-56A2-A434-BBDC204187C1}"/>
              </a:ext>
            </a:extLst>
          </p:cNvPr>
          <p:cNvSpPr txBox="1"/>
          <p:nvPr/>
        </p:nvSpPr>
        <p:spPr>
          <a:xfrm>
            <a:off x="2059733" y="1161394"/>
            <a:ext cx="15806738" cy="87761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700" spc="19" dirty="0">
                <a:solidFill>
                  <a:srgbClr val="B8B8B8">
                    <a:alpha val="100000"/>
                  </a:srgbClr>
                </a:solidFill>
                <a:latin typeface="Public Sans" panose="00000700000000000000" pitchFamily="2" charset="0"/>
              </a:rPr>
              <a:t>Integration of Multimodal RAG and YouTube Ingestion Pipelines for Lecture Intelligence </a:t>
            </a:r>
            <a:r>
              <a:rPr lang="en-US" sz="2800" b="1" dirty="0" err="1"/>
              <a:t>SmartTA</a:t>
            </a:r>
            <a:r>
              <a:rPr lang="en-US" sz="2800" b="1" dirty="0"/>
              <a:t> Unified System Architecture (RAG + YouTube Ingestion)</a:t>
            </a:r>
            <a:r>
              <a:rPr lang="en-US" sz="2800" dirty="0"/>
              <a:t> </a:t>
            </a:r>
            <a:endParaRPr lang="en-US" sz="2700" spc="19" dirty="0">
              <a:solidFill>
                <a:srgbClr val="B8B8B8">
                  <a:alpha val="100000"/>
                </a:srgbClr>
              </a:solidFill>
              <a:latin typeface="Public Sans" panose="00000700000000000000" pitchFamily="2" charset="0"/>
            </a:endParaRPr>
          </a:p>
        </p:txBody>
      </p:sp>
      <p:pic>
        <p:nvPicPr>
          <p:cNvPr id="6" name="Picture 5" descr="A diagram of a web interface&#10;&#10;AI-generated content may be incorrect.">
            <a:extLst>
              <a:ext uri="{FF2B5EF4-FFF2-40B4-BE49-F238E27FC236}">
                <a16:creationId xmlns:a16="http://schemas.microsoft.com/office/drawing/2014/main" id="{D426256A-B086-EB0B-1429-B9E197986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356" y="1826934"/>
            <a:ext cx="15054051" cy="82112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682938-FE50-B023-2684-5F7467715777}"/>
              </a:ext>
            </a:extLst>
          </p:cNvPr>
          <p:cNvSpPr txBox="1"/>
          <p:nvPr/>
        </p:nvSpPr>
        <p:spPr>
          <a:xfrm>
            <a:off x="17316450" y="9372600"/>
            <a:ext cx="64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B" sz="2400" dirty="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80257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1069-671A-A2C6-6B5C-30048734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background with white text&#10;&#10;AI-generated content may be incorrect.">
            <a:extLst>
              <a:ext uri="{FF2B5EF4-FFF2-40B4-BE49-F238E27FC236}">
                <a16:creationId xmlns:a16="http://schemas.microsoft.com/office/drawing/2014/main" id="{D4F61386-33C8-FF15-E315-945642D92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311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1637</TotalTime>
  <Words>1907</Words>
  <Application>Microsoft Office PowerPoint</Application>
  <PresentationFormat>Custom</PresentationFormat>
  <Paragraphs>252</Paragraphs>
  <Slides>27</Slides>
  <Notes>5</Notes>
  <HiddenSlides>16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Public Sans Medium</vt:lpstr>
      <vt:lpstr>Calibri Light</vt:lpstr>
      <vt:lpstr>Public Sans</vt:lpstr>
      <vt:lpstr>Public Sans SemiBold</vt:lpstr>
      <vt:lpstr>Calibri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Exporter Version: 2.6.0.0, docId: 24349108, orderId: 10049733</dc:title>
  <dc:creator>Georges Rizkallah (Student)</dc:creator>
  <cp:lastModifiedBy>Georges Rizkallah (Student)</cp:lastModifiedBy>
  <cp:revision>39</cp:revision>
  <dcterms:created xsi:type="dcterms:W3CDTF">2025-11-23T21:04:04Z</dcterms:created>
  <dcterms:modified xsi:type="dcterms:W3CDTF">2025-11-29T19:19:35Z</dcterms:modified>
</cp:coreProperties>
</file>